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96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la clase: ¿se ve el tránsito en la calidad del aire? La vamos a responder paso a paso.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hipótesis escritas se revisan al final de la clase.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está a escala: el cabello es un corte transversal.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promedio horario suaviza el dato por minuto sin perder la forma del día.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elijan una estación antes del paso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la estación con más tránsito medido cerca, y lo que se sacrifica son días. En el paso 11 se vuelve a la otra.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pueden comparar alturas entre paneles: por eso en el paso 4 se normaliza.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Días de semana; pico de la tarde a las 17 h para el tránsito y 18 h para el NO₂.</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fin de semana tiene pocos días de dato: curvas más irregulares.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variable del ejemplo es el verano; en nuestros datos, la hora del día.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variable es la hora del día: hay que sacarla.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a la derecha: más tránsito y más NO₂ que lo habitual.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curva del NO₂ es más alta a la derecha del 0: la causa va antes que el efecto.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el tránsito real; abajo el mismo corrido 3 días.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PM2.5 la prueba mira las primeras horas, donde todavía no responde.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ventana del paso 7 se habría concluido que el PM2.5 no tiene relación con el tránsito.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Python: b, a = np.polyfit(x, y, 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término viene de un paso anterior. Sin viento, lluvia ni temperatura, la hora explica la mitad del NO₂ y una quinta parte del PM2.5; el tránsito mejora a los dos.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nube es ancha: pendiente clara, pero la recta explica una parte. Los puntos altos del PM2.5 son episodios.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de 0,5 y 0,2 sin otras variables es bastante para datos de este tipo.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encontrar una relación también depende de qué tan bien se mide la causa.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meteorológicos: INUMET. Emisiones de la refinería: catálogo de datos abiertos (ANCAP). Feriados: calendario.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lo que viene en el curso: panel, espacial, efectos causales.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las hipótesis escritas al comienzo.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A21"/>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7772400" cy="914400"/>
          </a:xfrm>
          <a:prstGeom prst="rect">
            <a:avLst/>
          </a:prstGeom>
          <a:noFill/>
          <a:ln/>
        </p:spPr>
        <p:txBody>
          <a:bodyPr wrap="square" lIns="0" tIns="0" rIns="0" bIns="0" rtlCol="0" anchor="ctr"/>
          <a:lstStyle/>
          <a:p>
            <a:pPr marL="0" indent="0">
              <a:buNone/>
            </a:pPr>
            <a:r>
              <a:rPr lang="en-US" sz="4000" dirty="0">
                <a:solidFill>
                  <a:srgbClr val="FFFFFF"/>
                </a:solidFill>
                <a:latin typeface="Georgia" pitchFamily="34" charset="0"/>
                <a:ea typeface="Georgia" pitchFamily="34" charset="-122"/>
                <a:cs typeface="Georgia" pitchFamily="34" charset="-120"/>
              </a:rPr>
              <a:t>Tránsito y calidad del aire</a:t>
            </a:r>
            <a:endParaRPr lang="en-US" sz="4000" dirty="0"/>
          </a:p>
        </p:txBody>
      </p:sp>
      <p:sp>
        <p:nvSpPr>
          <p:cNvPr id="3" name="Text 1"/>
          <p:cNvSpPr txBox="1"/>
          <p:nvPr/>
        </p:nvSpPr>
        <p:spPr>
          <a:xfrm>
            <a:off x="731520" y="2971800"/>
            <a:ext cx="7772400" cy="502920"/>
          </a:xfrm>
          <a:prstGeom prst="rect">
            <a:avLst/>
          </a:prstGeom>
          <a:noFill/>
          <a:ln/>
        </p:spPr>
        <p:txBody>
          <a:bodyPr wrap="square" lIns="0" tIns="0" rIns="0" bIns="0" rtlCol="0" anchor="ctr"/>
          <a:lstStyle/>
          <a:p>
            <a:pPr marL="0" indent="0">
              <a:buNone/>
            </a:pPr>
            <a:r>
              <a:rPr lang="en-US" sz="2000" dirty="0">
                <a:solidFill>
                  <a:srgbClr val="9ED8EE"/>
                </a:solidFill>
                <a:latin typeface="Calibri" pitchFamily="34" charset="0"/>
                <a:ea typeface="Calibri" pitchFamily="34" charset="-122"/>
                <a:cs typeface="Calibri" pitchFamily="34" charset="-120"/>
              </a:rPr>
              <a:t>Series de tiempo, correlación y regresión lineal</a:t>
            </a:r>
            <a:endParaRPr lang="en-US" sz="2000" dirty="0"/>
          </a:p>
        </p:txBody>
      </p:sp>
      <p:sp>
        <p:nvSpPr>
          <p:cNvPr id="4" name="Text 2"/>
          <p:cNvSpPr txBox="1"/>
          <p:nvPr/>
        </p:nvSpPr>
        <p:spPr>
          <a:xfrm>
            <a:off x="731520" y="3657600"/>
            <a:ext cx="7772400" cy="457200"/>
          </a:xfrm>
          <a:prstGeom prst="rect">
            <a:avLst/>
          </a:prstGeom>
          <a:noFill/>
          <a:ln/>
        </p:spPr>
        <p:txBody>
          <a:bodyPr wrap="square" lIns="0" tIns="0" rIns="0" bIns="0" rtlCol="0" anchor="ctr"/>
          <a:lstStyle/>
          <a:p>
            <a:pPr marL="0" indent="0">
              <a:buNone/>
            </a:pPr>
            <a:r>
              <a:rPr lang="en-US" sz="1500" dirty="0">
                <a:solidFill>
                  <a:srgbClr val="F3E9DF"/>
                </a:solidFill>
                <a:latin typeface="Calibri" pitchFamily="34" charset="0"/>
                <a:ea typeface="Calibri" pitchFamily="34" charset="-122"/>
                <a:cs typeface="Calibri" pitchFamily="34" charset="-120"/>
              </a:rPr>
              <a:t>Datos abiertos de Montevideo: conteo vehicular, NO₂ y PM2.5, junio de 2024</a:t>
            </a:r>
            <a:endParaRPr lang="en-US" sz="1500" dirty="0"/>
          </a:p>
        </p:txBody>
      </p:sp>
      <p:sp>
        <p:nvSpPr>
          <p:cNvPr id="5" name="Text 3"/>
          <p:cNvSpPr txBox="1"/>
          <p:nvPr/>
        </p:nvSpPr>
        <p:spPr>
          <a:xfrm>
            <a:off x="731520" y="6035040"/>
            <a:ext cx="7772400" cy="365760"/>
          </a:xfrm>
          <a:prstGeom prst="rect">
            <a:avLst/>
          </a:prstGeom>
          <a:noFill/>
          <a:ln/>
        </p:spPr>
        <p:txBody>
          <a:bodyPr wrap="square" lIns="0" tIns="0" rIns="0" bIns="0" rtlCol="0" anchor="ctr"/>
          <a:lstStyle/>
          <a:p>
            <a:pPr marL="0" indent="0">
              <a:buNone/>
            </a:pPr>
            <a:r>
              <a:rPr lang="en-US" sz="1200" dirty="0">
                <a:solidFill>
                  <a:srgbClr val="D9C7B8"/>
                </a:solidFill>
                <a:latin typeface="Calibri" pitchFamily="34" charset="0"/>
                <a:ea typeface="Calibri" pitchFamily="34" charset="-122"/>
                <a:cs typeface="Calibri" pitchFamily="34" charset="-120"/>
              </a:rPr>
              <a:t>Introducción a la Ciencia de Datos · Universidad de Montevideo</a:t>
            </a:r>
            <a:endParaRPr lang="en-US" sz="1200" dirty="0"/>
          </a:p>
        </p:txBody>
      </p:sp>
      <p:pic>
        <p:nvPicPr>
          <p:cNvPr id="6" name="Image 0" descr="/tmp/deck3/ico_claro/car.png"/>
          <p:cNvPicPr>
            <a:picLocks noChangeAspect="1"/>
          </p:cNvPicPr>
          <p:nvPr/>
        </p:nvPicPr>
        <p:blipFill>
          <a:blip r:embed="rId3"/>
          <a:stretch>
            <a:fillRect/>
          </a:stretch>
        </p:blipFill>
        <p:spPr>
          <a:xfrm>
            <a:off x="8961120" y="1920240"/>
            <a:ext cx="1188720" cy="1188720"/>
          </a:xfrm>
          <a:prstGeom prst="rect">
            <a:avLst/>
          </a:prstGeom>
        </p:spPr>
      </p:pic>
      <p:pic>
        <p:nvPicPr>
          <p:cNvPr id="7" name="Image 1" descr="/tmp/deck3/ico_claro/smog.png"/>
          <p:cNvPicPr>
            <a:picLocks noChangeAspect="1"/>
          </p:cNvPicPr>
          <p:nvPr/>
        </p:nvPicPr>
        <p:blipFill>
          <a:blip r:embed="rId4"/>
          <a:stretch>
            <a:fillRect/>
          </a:stretch>
        </p:blipFill>
        <p:spPr>
          <a:xfrm>
            <a:off x="10332720" y="1920240"/>
            <a:ext cx="1188720" cy="1188720"/>
          </a:xfrm>
          <a:prstGeom prst="rect">
            <a:avLst/>
          </a:prstGeom>
        </p:spPr>
      </p:pic>
      <p:pic>
        <p:nvPicPr>
          <p:cNvPr id="8" name="Image 2" descr="/tmp/deck3/ico_claro/lungs.png"/>
          <p:cNvPicPr>
            <a:picLocks noChangeAspect="1"/>
          </p:cNvPicPr>
          <p:nvPr/>
        </p:nvPicPr>
        <p:blipFill>
          <a:blip r:embed="rId5"/>
          <a:stretch>
            <a:fillRect/>
          </a:stretch>
        </p:blipFill>
        <p:spPr>
          <a:xfrm>
            <a:off x="9646920" y="338328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Los datos</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503920" cy="182880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Fuente</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Qué mide</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Cada cuánto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Dónde</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Conteo vehicular</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Vehículos que pasan, por carril</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5 minutos</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224 puntos en avenidas</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NO₂</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Dióxido de nitrógeno en el aire (µg/m³)</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 minuto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2 estaciones</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PM2.5</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Material particulado fino (µg/m³)</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 minuto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 estaciones</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4" name="Image 0" descr="/tmp/deck3/ico_cel/camera.png"/>
          <p:cNvPicPr>
            <a:picLocks noChangeAspect="1"/>
          </p:cNvPicPr>
          <p:nvPr/>
        </p:nvPicPr>
        <p:blipFill>
          <a:blip r:embed="rId3"/>
          <a:stretch>
            <a:fillRect/>
          </a:stretch>
        </p:blipFill>
        <p:spPr>
          <a:xfrm>
            <a:off x="9601200" y="1371600"/>
            <a:ext cx="822960" cy="822960"/>
          </a:xfrm>
          <a:prstGeom prst="rect">
            <a:avLst/>
          </a:prstGeom>
        </p:spPr>
      </p:pic>
      <p:pic>
        <p:nvPicPr>
          <p:cNvPr id="5" name="Image 1" descr="/tmp/deck3/ico_mar/station.png"/>
          <p:cNvPicPr>
            <a:picLocks noChangeAspect="1"/>
          </p:cNvPicPr>
          <p:nvPr/>
        </p:nvPicPr>
        <p:blipFill>
          <a:blip r:embed="rId4"/>
          <a:stretch>
            <a:fillRect/>
          </a:stretch>
        </p:blipFill>
        <p:spPr>
          <a:xfrm>
            <a:off x="10789920" y="1371600"/>
            <a:ext cx="822960" cy="822960"/>
          </a:xfrm>
          <a:prstGeom prst="rect">
            <a:avLst/>
          </a:prstGeom>
        </p:spPr>
      </p:pic>
      <p:sp>
        <p:nvSpPr>
          <p:cNvPr id="6" name="Text 1"/>
          <p:cNvSpPr txBox="1"/>
          <p:nvPr/>
        </p:nvSpPr>
        <p:spPr>
          <a:xfrm>
            <a:off x="457200" y="3474720"/>
            <a:ext cx="8503920" cy="2743200"/>
          </a:xfrm>
          <a:prstGeom prst="rect">
            <a:avLst/>
          </a:prstGeom>
          <a:noFill/>
          <a:ln/>
        </p:spPr>
        <p:txBody>
          <a:bodyPr wrap="square" lIns="0" tIns="0" rIns="0" bIns="0" rtlCol="0" anchor="t"/>
          <a:lstStyle/>
          <a:p>
            <a:pPr marL="0" indent="0">
              <a:spcAft>
                <a:spcPts val="300"/>
              </a:spcAft>
              <a:buNone/>
            </a:pPr>
            <a:r>
              <a:rPr lang="en-US" sz="1400" dirty="0">
                <a:solidFill>
                  <a:srgbClr val="2B2B2B"/>
                </a:solidFill>
                <a:latin typeface="Calibri" pitchFamily="34" charset="0"/>
                <a:ea typeface="Calibri" pitchFamily="34" charset="-122"/>
                <a:cs typeface="Calibri" pitchFamily="34" charset="-120"/>
              </a:rPr>
              <a:t>Fuente: Catálogo de Datos Abiertos del Uruguay (Intendencia de Montevideo).</a:t>
            </a:r>
            <a:endParaRPr lang="en-US" sz="1400" dirty="0"/>
          </a:p>
          <a:p>
            <a:pPr marL="0" indent="0">
              <a:spcAft>
                <a:spcPts val="300"/>
              </a:spcAft>
              <a:buNone/>
            </a:pPr>
            <a:r>
              <a:rPr lang="en-US" sz="1400" dirty="0">
                <a:solidFill>
                  <a:srgbClr val="2B2B2B"/>
                </a:solidFill>
                <a:latin typeface="Calibri" pitchFamily="34" charset="0"/>
                <a:ea typeface="Calibri" pitchFamily="34" charset="-122"/>
                <a:cs typeface="Calibri" pitchFamily="34" charset="-120"/>
              </a:rPr>
              <a:t>Período: junio de 2024, el mes en que las tres fuentes tienen datos a la vez.</a:t>
            </a:r>
            <a:endParaRPr lang="en-US" sz="1400" dirty="0"/>
          </a:p>
          <a:p>
            <a:pPr marL="0" indent="0">
              <a:spcAft>
                <a:spcPts val="300"/>
              </a:spcAft>
              <a:buNone/>
            </a:pPr>
            <a:r>
              <a:rPr lang="en-US" sz="1400" dirty="0">
                <a:solidFill>
                  <a:srgbClr val="2B2B2B"/>
                </a:solidFill>
                <a:latin typeface="Calibri" pitchFamily="34" charset="0"/>
                <a:ea typeface="Calibri" pitchFamily="34" charset="-122"/>
                <a:cs typeface="Calibri" pitchFamily="34" charset="-120"/>
              </a:rPr>
              <a:t>Unidad de observación: una hora. Todo se lleva a valores por hora para poder compararlo.</a:t>
            </a:r>
            <a:endParaRPr lang="en-US" sz="1400" dirty="0"/>
          </a:p>
          <a:p>
            <a:pPr marL="0" indent="0">
              <a:spcBef>
                <a:spcPts val="800"/>
              </a:spcBef>
              <a:spcAft>
                <a:spcPts val="300"/>
              </a:spcAft>
              <a:buNone/>
            </a:pPr>
            <a:r>
              <a:rPr lang="en-US" sz="1400" i="1" dirty="0">
                <a:solidFill>
                  <a:srgbClr val="7B4B2A"/>
                </a:solidFill>
                <a:latin typeface="Calibri" pitchFamily="34" charset="0"/>
                <a:ea typeface="Calibri" pitchFamily="34" charset="-122"/>
                <a:cs typeface="Calibri" pitchFamily="34" charset="-120"/>
              </a:rPr>
              <a:t>Pregunta: si el tránsito influye en el aire, ¿qué esperarían ver en los datos? Escriban su hipótesis antes de seguir.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Qué medimos y en qué unidades</a:t>
            </a:r>
            <a:endParaRPr lang="en-US" sz="2800" dirty="0"/>
          </a:p>
        </p:txBody>
      </p:sp>
      <p:sp>
        <p:nvSpPr>
          <p:cNvPr id="3" name="Text 1"/>
          <p:cNvSpPr txBox="1"/>
          <p:nvPr/>
        </p:nvSpPr>
        <p:spPr>
          <a:xfrm>
            <a:off x="457200" y="1280160"/>
            <a:ext cx="548640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Concentración</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Los contaminantes se miden en microgramos por metro cúbico (µg/m³): cuánta masa de la sustancia hay en un metro cúbico de aire. Un microgramo es una millonésima de gramo.</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NO₂, dióxido de nitrógeno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Gas que se forma en la combustión de los motores. Dura poco en el aire.</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PM2.5, material particulado fino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Partículas de hasta 2,5 micrómetros, unas 30 veces más finas que un cabello. Vienen de motores, quemas, polvo y reacciones en el aire, y pueden quedar suspendidas horas o días.</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Tránsito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Vehículos por hora. Al sumar varios puntos de conteo, un mismo auto puede contarse más de una vez: es un indicador de actividad, no una cantidad de autos.</a:t>
            </a:r>
            <a:endParaRPr lang="en-US" sz="1400" dirty="0"/>
          </a:p>
        </p:txBody>
      </p:sp>
      <p:pic>
        <p:nvPicPr>
          <p:cNvPr id="4" name="Image 0" descr="/tmp/deck3/fig/t_tamanos.png"/>
          <p:cNvPicPr>
            <a:picLocks noChangeAspect="1"/>
          </p:cNvPicPr>
          <p:nvPr/>
        </p:nvPicPr>
        <p:blipFill>
          <a:blip r:embed="rId3"/>
          <a:stretch>
            <a:fillRect/>
          </a:stretch>
        </p:blipFill>
        <p:spPr>
          <a:xfrm>
            <a:off x="6217920" y="1280160"/>
            <a:ext cx="5513832" cy="38917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Series de tiempo</a:t>
            </a:r>
            <a:endParaRPr lang="en-US" sz="2800" dirty="0"/>
          </a:p>
        </p:txBody>
      </p:sp>
      <p:sp>
        <p:nvSpPr>
          <p:cNvPr id="3" name="Text 1"/>
          <p:cNvSpPr txBox="1"/>
          <p:nvPr/>
        </p:nvSpPr>
        <p:spPr>
          <a:xfrm>
            <a:off x="457200" y="1280160"/>
            <a:ext cx="493776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Qué es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Una variable medida muchas veces, en orden. Cada valor tiene fecha y hora.</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Paso de muestreo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Cada cuánto hay un dato: el NO₂ cada minuto, el tránsito cada 5 minutos.</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Agregar</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Para comparar, llevamos todo al mismo paso: el promedio de cada hora (la suma, en el caso del tránsito).</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Cómo leer el gráfico</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Eje horizontal: el tiempo.</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Eje vertical: el valor.</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Celeste: dato por minuto. Marrón: promedio de cada hora.</a:t>
            </a:r>
            <a:endParaRPr lang="en-US" sz="1400" dirty="0"/>
          </a:p>
        </p:txBody>
      </p:sp>
      <p:pic>
        <p:nvPicPr>
          <p:cNvPr id="4" name="Image 0" descr="/tmp/deck3/fig/t_serie.png"/>
          <p:cNvPicPr>
            <a:picLocks noChangeAspect="1"/>
          </p:cNvPicPr>
          <p:nvPr/>
        </p:nvPicPr>
        <p:blipFill>
          <a:blip r:embed="rId3"/>
          <a:stretch>
            <a:fillRect/>
          </a:stretch>
        </p:blipFill>
        <p:spPr>
          <a:xfrm>
            <a:off x="5669280" y="1280160"/>
            <a:ext cx="6062472" cy="30868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1: </a:t>
            </a:r>
            <a:r>
              <a:rPr lang="en-US" sz="2800" dirty="0">
                <a:solidFill>
                  <a:srgbClr val="5C3A21"/>
                </a:solidFill>
                <a:latin typeface="Georgia" pitchFamily="34" charset="0"/>
                <a:ea typeface="Georgia" pitchFamily="34" charset="-122"/>
                <a:cs typeface="Georgia" pitchFamily="34" charset="-120"/>
              </a:rPr>
              <a:t>dónde se mide</a:t>
            </a:r>
            <a:endParaRPr lang="en-US" sz="2800" dirty="0"/>
          </a:p>
        </p:txBody>
      </p:sp>
      <p:pic>
        <p:nvPicPr>
          <p:cNvPr id="3" name="Image 0" descr="/tmp/deck3/fig/p01_mapa.png"/>
          <p:cNvPicPr>
            <a:picLocks noChangeAspect="1"/>
          </p:cNvPicPr>
          <p:nvPr/>
        </p:nvPicPr>
        <p:blipFill>
          <a:blip r:embed="rId3"/>
          <a:stretch>
            <a:fillRect/>
          </a:stretch>
        </p:blipFill>
        <p:spPr>
          <a:xfrm>
            <a:off x="528166" y="1234440"/>
            <a:ext cx="6898949" cy="5212080"/>
          </a:xfrm>
          <a:prstGeom prst="rect">
            <a:avLst/>
          </a:prstGeom>
        </p:spPr>
      </p:pic>
      <p:sp>
        <p:nvSpPr>
          <p:cNvPr id="4" name="Text 1"/>
          <p:cNvSpPr txBox="1"/>
          <p:nvPr/>
        </p:nvSpPr>
        <p:spPr>
          <a:xfrm>
            <a:off x="7818120" y="1234440"/>
            <a:ext cx="3913632" cy="5257800"/>
          </a:xfrm>
          <a:prstGeom prst="rect">
            <a:avLst/>
          </a:prstGeom>
          <a:noFill/>
          <a:ln/>
        </p:spPr>
        <p:txBody>
          <a:bodyPr wrap="square" lIns="0" tIns="0" rIns="0" bIns="0" rtlCol="0" anchor="t"/>
          <a:lstStyle/>
          <a:p>
            <a:pPr marL="0" indent="0">
              <a:spcAft>
                <a:spcPts val="300"/>
              </a:spcAft>
              <a:buNone/>
            </a:pPr>
            <a:r>
              <a:rPr lang="en-US" sz="1250" b="1" dirty="0">
                <a:solidFill>
                  <a:srgbClr val="2E86AB"/>
                </a:solidFill>
                <a:latin typeface="Calibri" pitchFamily="34" charset="0"/>
                <a:ea typeface="Calibri" pitchFamily="34" charset="-122"/>
                <a:cs typeface="Calibri" pitchFamily="34" charset="-120"/>
              </a:rPr>
              <a:t>Cómo leer el gráfico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horizontal: longitud (oeste a este).</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vertical: latitud (sur a norte).</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Puntos celestes: conteo vehicular. Estrellas: estaciones de aire.</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Qué vemos</a:t>
            </a:r>
            <a:endParaRPr lang="en-US" sz="1250" dirty="0"/>
          </a:p>
          <a:p>
            <a:pPr marL="0" indent="0">
              <a:spcAft>
                <a:spcPts val="300"/>
              </a:spcAft>
              <a:buNone/>
            </a:pPr>
            <a:r>
              <a:rPr lang="en-US" sz="1150" dirty="0">
                <a:solidFill>
                  <a:srgbClr val="2B2B2B"/>
                </a:solidFill>
                <a:latin typeface="Calibri" pitchFamily="34" charset="0"/>
                <a:ea typeface="Calibri" pitchFamily="34" charset="-122"/>
                <a:cs typeface="Calibri" pitchFamily="34" charset="-120"/>
              </a:rPr>
              <a:t>Los puntos de conteo están repartidos de forma desigual: muchos alrededor de una estación, pocos alrededor de otras.</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En Python</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puntos = auto.groupby(</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  ["latitud", "longitud"]).size()</a:t>
            </a:r>
            <a:endParaRPr lang="en-US" sz="1250" dirty="0"/>
          </a:p>
          <a:p>
            <a:pPr marL="0" indent="0">
              <a:spcBef>
                <a:spcPts val="800"/>
              </a:spcBef>
              <a:spcAft>
                <a:spcPts val="300"/>
              </a:spcAft>
              <a:buNone/>
            </a:pPr>
            <a:r>
              <a:rPr lang="en-US" sz="1150" i="1" dirty="0">
                <a:solidFill>
                  <a:srgbClr val="7B4B2A"/>
                </a:solidFill>
                <a:latin typeface="Calibri" pitchFamily="34" charset="0"/>
                <a:ea typeface="Calibri" pitchFamily="34" charset="-122"/>
                <a:cs typeface="Calibri" pitchFamily="34" charset="-120"/>
              </a:rPr>
              <a:t>Pregunta: ¿en qué estación buscarían la relación con el tránsito?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2: </a:t>
            </a:r>
            <a:r>
              <a:rPr lang="en-US" sz="2800" dirty="0">
                <a:solidFill>
                  <a:srgbClr val="5C3A21"/>
                </a:solidFill>
                <a:latin typeface="Georgia" pitchFamily="34" charset="0"/>
                <a:ea typeface="Georgia" pitchFamily="34" charset="-122"/>
                <a:cs typeface="Georgia" pitchFamily="34" charset="-120"/>
              </a:rPr>
              <a:t>elección de la estación</a:t>
            </a:r>
            <a:endParaRPr lang="en-US" sz="2800" dirty="0"/>
          </a:p>
        </p:txBody>
      </p:sp>
      <p:pic>
        <p:nvPicPr>
          <p:cNvPr id="3" name="Image 0" descr="/tmp/deck3/fig/p02_eleccion.png"/>
          <p:cNvPicPr>
            <a:picLocks noChangeAspect="1"/>
          </p:cNvPicPr>
          <p:nvPr/>
        </p:nvPicPr>
        <p:blipFill>
          <a:blip r:embed="rId3"/>
          <a:stretch>
            <a:fillRect/>
          </a:stretch>
        </p:blipFill>
        <p:spPr>
          <a:xfrm>
            <a:off x="905047" y="1188720"/>
            <a:ext cx="10378858"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Izquierda: puntos de conteo a menos de 1,5 km de cada estación.</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Derecha: cada cuadrado es un día con dato (marrón NO₂, arena PM2.5).</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Tres Cruces tiene 55 puntos cerca pero NO₂ solo la primera mitad del mes. Curva de Maroñas tiene NO₂ todo el mes y 4 puntos. Museo Romántico no mide NO₂.</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¿más días de datos o la causa mejor medida?</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d = dist_km(lat, lon,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lat_est, lon_est)</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cerca = puntos[d &lt;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3: </a:t>
            </a:r>
            <a:r>
              <a:rPr lang="en-US" sz="2800" dirty="0">
                <a:solidFill>
                  <a:srgbClr val="5C3A21"/>
                </a:solidFill>
                <a:latin typeface="Georgia" pitchFamily="34" charset="0"/>
                <a:ea typeface="Georgia" pitchFamily="34" charset="-122"/>
                <a:cs typeface="Georgia" pitchFamily="34" charset="-120"/>
              </a:rPr>
              <a:t>una semana de datos</a:t>
            </a:r>
            <a:endParaRPr lang="en-US" sz="2800" dirty="0"/>
          </a:p>
        </p:txBody>
      </p:sp>
      <p:pic>
        <p:nvPicPr>
          <p:cNvPr id="3" name="Image 0" descr="/tmp/deck3/fig/p03_semana.png"/>
          <p:cNvPicPr>
            <a:picLocks noChangeAspect="1"/>
          </p:cNvPicPr>
          <p:nvPr/>
        </p:nvPicPr>
        <p:blipFill>
          <a:blip r:embed="rId3"/>
          <a:stretch>
            <a:fillRect/>
          </a:stretch>
        </p:blipFill>
        <p:spPr>
          <a:xfrm>
            <a:off x="457200" y="1234440"/>
            <a:ext cx="7040880" cy="4069029"/>
          </a:xfrm>
          <a:prstGeom prst="rect">
            <a:avLst/>
          </a:prstGeom>
        </p:spPr>
      </p:pic>
      <p:sp>
        <p:nvSpPr>
          <p:cNvPr id="4" name="Text 1"/>
          <p:cNvSpPr txBox="1"/>
          <p:nvPr/>
        </p:nvSpPr>
        <p:spPr>
          <a:xfrm>
            <a:off x="7818120" y="1234440"/>
            <a:ext cx="3913632" cy="5257800"/>
          </a:xfrm>
          <a:prstGeom prst="rect">
            <a:avLst/>
          </a:prstGeom>
          <a:noFill/>
          <a:ln/>
        </p:spPr>
        <p:txBody>
          <a:bodyPr wrap="square" lIns="0" tIns="0" rIns="0" bIns="0" rtlCol="0" anchor="t"/>
          <a:lstStyle/>
          <a:p>
            <a:pPr marL="0" indent="0">
              <a:spcAft>
                <a:spcPts val="300"/>
              </a:spcAft>
              <a:buNone/>
            </a:pPr>
            <a:r>
              <a:rPr lang="en-US" sz="1250" b="1" dirty="0">
                <a:solidFill>
                  <a:srgbClr val="2E86AB"/>
                </a:solidFill>
                <a:latin typeface="Calibri" pitchFamily="34" charset="0"/>
                <a:ea typeface="Calibri" pitchFamily="34" charset="-122"/>
                <a:cs typeface="Calibri" pitchFamily="34" charset="-120"/>
              </a:rPr>
              <a:t>Cómo leer el gráfico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horizontal: los días de una semana.</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vertical: el valor de cada serie; cada panel tiene su propia escala.</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Los cortes en la línea son horas sin dato.</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Qué vemos</a:t>
            </a:r>
            <a:endParaRPr lang="en-US" sz="1250" dirty="0"/>
          </a:p>
          <a:p>
            <a:pPr marL="0" indent="0">
              <a:spcAft>
                <a:spcPts val="300"/>
              </a:spcAft>
              <a:buNone/>
            </a:pPr>
            <a:r>
              <a:rPr lang="en-US" sz="1150" dirty="0">
                <a:solidFill>
                  <a:srgbClr val="2B2B2B"/>
                </a:solidFill>
                <a:latin typeface="Calibri" pitchFamily="34" charset="0"/>
                <a:ea typeface="Calibri" pitchFamily="34" charset="-122"/>
                <a:cs typeface="Calibri" pitchFamily="34" charset="-120"/>
              </a:rPr>
              <a:t>El tránsito repite su forma cada día y baja el fin de semana. El NO₂ sube y baja parecido, con más ruido. El PM2.5 tiene episodios.</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En Python</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semana = df["2024-06-04":"2024-06-10"]</a:t>
            </a:r>
            <a:endParaRPr lang="en-US" sz="1250" dirty="0"/>
          </a:p>
          <a:p>
            <a:pPr marL="0" indent="0">
              <a:spcBef>
                <a:spcPts val="800"/>
              </a:spcBef>
              <a:spcAft>
                <a:spcPts val="300"/>
              </a:spcAft>
              <a:buNone/>
            </a:pPr>
            <a:r>
              <a:rPr lang="en-US" sz="1150" i="1" dirty="0">
                <a:solidFill>
                  <a:srgbClr val="7B4B2A"/>
                </a:solidFill>
                <a:latin typeface="Calibri" pitchFamily="34" charset="0"/>
                <a:ea typeface="Calibri" pitchFamily="34" charset="-122"/>
                <a:cs typeface="Calibri" pitchFamily="34" charset="-120"/>
              </a:rPr>
              <a:t>Pregunta: ¿qué día es cada curva? ¿Por qué el domingo el NO₂ llega a 87?</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Promedio y normalización</a:t>
            </a:r>
            <a:endParaRPr lang="en-US" sz="2800" dirty="0"/>
          </a:p>
        </p:txBody>
      </p:sp>
      <p:sp>
        <p:nvSpPr>
          <p:cNvPr id="3" name="Text 1"/>
          <p:cNvSpPr txBox="1"/>
          <p:nvPr/>
        </p:nvSpPr>
        <p:spPr>
          <a:xfrm>
            <a:off x="457200" y="1280160"/>
            <a:ext cx="566928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Perfil horario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Para cada hora del día (0 a 23) se promedian todos los días del mes: es la forma de un día típico.</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Normalizar</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Tránsito y NO₂ tienen unidades distintas. Para compararlos se divide cada valor por el promedio de su serie: 1 es el promedio, 2 el doble, 0,5 la mitad.</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Ejemplo con los datos de junio</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5669280" cy="1920240"/>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Promedio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Pico de la tarde</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Tránsito (veh/h)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25.254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7.625</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47.386</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   ÷ promedio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NO₂ (µg/m³)</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38,2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55,4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   ÷ promedio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6675120" y="1280160"/>
            <a:ext cx="5056632" cy="1828800"/>
          </a:xfrm>
          <a:prstGeom prst="rect">
            <a:avLst/>
          </a:prstGeom>
          <a:noFill/>
          <a:ln/>
        </p:spPr>
        <p:txBody>
          <a:bodyPr wrap="square" lIns="0" tIns="0" rIns="0" bIns="0" rtlCol="0" anchor="t"/>
          <a:lstStyle/>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A las 3 de la mañana el tránsito está en 0,30 de su promedio y el NO₂ en 0,32: los dos en alrededor de un tercio de lo normal. Con unidades distintas no se veía; normalizado se compara directamente.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4: </a:t>
            </a:r>
            <a:r>
              <a:rPr lang="en-US" sz="2800" dirty="0">
                <a:solidFill>
                  <a:srgbClr val="5C3A21"/>
                </a:solidFill>
                <a:latin typeface="Georgia" pitchFamily="34" charset="0"/>
                <a:ea typeface="Georgia" pitchFamily="34" charset="-122"/>
                <a:cs typeface="Georgia" pitchFamily="34" charset="-120"/>
              </a:rPr>
              <a:t>perfil horario</a:t>
            </a:r>
            <a:endParaRPr lang="en-US" sz="2800" dirty="0"/>
          </a:p>
        </p:txBody>
      </p:sp>
      <p:pic>
        <p:nvPicPr>
          <p:cNvPr id="3" name="Image 0" descr="/tmp/deck3/fig/p04_perfil.png"/>
          <p:cNvPicPr>
            <a:picLocks noChangeAspect="1"/>
          </p:cNvPicPr>
          <p:nvPr/>
        </p:nvPicPr>
        <p:blipFill>
          <a:blip r:embed="rId3"/>
          <a:stretch>
            <a:fillRect/>
          </a:stretch>
        </p:blipFill>
        <p:spPr>
          <a:xfrm>
            <a:off x="1307536" y="1188720"/>
            <a:ext cx="9573880"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horizontal: hora del día (0 a 23).</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vertical: valor dividido por su promedio.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Izquierda: lunes a viernes. Derecha: fin de semana.</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El NO₂ sigue al tránsito. Los picos llegan en orden: tránsito, NO₂, PM2.5 (entre semana: 17 h, 18 h y 21 h).</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¿por qué el PM2.5 sube cuando el tránsito ya baja?</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perfil = df.groupby(</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[tipo_dia, df.index.hour]).mean()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perfil / perfil.mean()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Correlación</a:t>
            </a:r>
            <a:endParaRPr lang="en-US" sz="2800" dirty="0"/>
          </a:p>
        </p:txBody>
      </p:sp>
      <p:sp>
        <p:nvSpPr>
          <p:cNvPr id="3" name="Text 1"/>
          <p:cNvSpPr txBox="1"/>
          <p:nvPr/>
        </p:nvSpPr>
        <p:spPr>
          <a:xfrm>
            <a:off x="457200" y="1280160"/>
            <a:ext cx="457200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Qué mide</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El coeficiente r mide cuánto dos variables suben y bajan juntas en línea recta. Va de −1 a 1.</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Cerca de 1: cuando una sube, la otra también.</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Cerca de −1: cuando una sube, la otra baja.</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Cerca de 0: sin relación lineal.</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Diagrama de dispersión</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Cada punto es una observación; cada eje, una variable.</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Correlación no es causa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Las ventas de helado y los golpes de calor suben juntos, porque los dos dependen del verano. Con el aire pasa algo parecido con la hora del día.</a:t>
            </a:r>
            <a:endParaRPr lang="en-US" sz="1400" dirty="0"/>
          </a:p>
        </p:txBody>
      </p:sp>
      <p:pic>
        <p:nvPicPr>
          <p:cNvPr id="4" name="Image 0" descr="/tmp/deck3/fig/t_correlacion.png"/>
          <p:cNvPicPr>
            <a:picLocks noChangeAspect="1"/>
          </p:cNvPicPr>
          <p:nvPr/>
        </p:nvPicPr>
        <p:blipFill>
          <a:blip r:embed="rId3"/>
          <a:stretch>
            <a:fillRect/>
          </a:stretch>
        </p:blipFill>
        <p:spPr>
          <a:xfrm>
            <a:off x="5303520" y="1280160"/>
            <a:ext cx="6428232" cy="2049638"/>
          </a:xfrm>
          <a:prstGeom prst="rect">
            <a:avLst/>
          </a:prstGeom>
        </p:spPr>
      </p:pic>
      <p:pic>
        <p:nvPicPr>
          <p:cNvPr id="5" name="Image 1" descr="/tmp/deck3/ico_mar/ice.png"/>
          <p:cNvPicPr>
            <a:picLocks noChangeAspect="1"/>
          </p:cNvPicPr>
          <p:nvPr/>
        </p:nvPicPr>
        <p:blipFill>
          <a:blip r:embed="rId4"/>
          <a:stretch>
            <a:fillRect/>
          </a:stretch>
        </p:blipFill>
        <p:spPr>
          <a:xfrm>
            <a:off x="7223760" y="4480560"/>
            <a:ext cx="1005840" cy="1005840"/>
          </a:xfrm>
          <a:prstGeom prst="rect">
            <a:avLst/>
          </a:prstGeom>
        </p:spPr>
      </p:pic>
      <p:pic>
        <p:nvPicPr>
          <p:cNvPr id="6" name="Image 2" descr="/tmp/deck3/ico_cel/sun.png"/>
          <p:cNvPicPr>
            <a:picLocks noChangeAspect="1"/>
          </p:cNvPicPr>
          <p:nvPr/>
        </p:nvPicPr>
        <p:blipFill>
          <a:blip r:embed="rId5"/>
          <a:stretch>
            <a:fillRect/>
          </a:stretch>
        </p:blipFill>
        <p:spPr>
          <a:xfrm>
            <a:off x="8778240" y="4480560"/>
            <a:ext cx="1005840" cy="1005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5: </a:t>
            </a:r>
            <a:r>
              <a:rPr lang="en-US" sz="2800" dirty="0">
                <a:solidFill>
                  <a:srgbClr val="5C3A21"/>
                </a:solidFill>
                <a:latin typeface="Georgia" pitchFamily="34" charset="0"/>
                <a:ea typeface="Georgia" pitchFamily="34" charset="-122"/>
                <a:cs typeface="Georgia" pitchFamily="34" charset="-120"/>
              </a:rPr>
              <a:t>correlación</a:t>
            </a:r>
            <a:endParaRPr lang="en-US" sz="2800" dirty="0"/>
          </a:p>
        </p:txBody>
      </p:sp>
      <p:pic>
        <p:nvPicPr>
          <p:cNvPr id="3" name="Image 0" descr="/tmp/deck3/fig/p05_cruda.png"/>
          <p:cNvPicPr>
            <a:picLocks noChangeAspect="1"/>
          </p:cNvPicPr>
          <p:nvPr/>
        </p:nvPicPr>
        <p:blipFill>
          <a:blip r:embed="rId3"/>
          <a:stretch>
            <a:fillRect/>
          </a:stretch>
        </p:blipFill>
        <p:spPr>
          <a:xfrm>
            <a:off x="1622362" y="1188720"/>
            <a:ext cx="8944228"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Cada punto es una hora.</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horizontal: vehículos por hora.</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vertical: el contaminante en esa hora.</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NO₂: r = 0,59. PM2.5: r = −0,02. Pero los dos tienen ciclo diario, y parte de la r del NO₂ viene de ahí.</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¿todo lo que sube de día está relacionado?</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r = df["transito"].corr(df["no2"])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Desvío respecto de lo habitual</a:t>
            </a:r>
            <a:endParaRPr lang="en-US" sz="2800" dirty="0"/>
          </a:p>
        </p:txBody>
      </p:sp>
      <p:sp>
        <p:nvSpPr>
          <p:cNvPr id="3" name="Text 1"/>
          <p:cNvSpPr txBox="1"/>
          <p:nvPr/>
        </p:nvSpPr>
        <p:spPr>
          <a:xfrm>
            <a:off x="457200" y="1280160"/>
            <a:ext cx="566928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Idea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A cada hora se le resta lo que suele pasar a esa hora: el promedio de esa hora, separando días de semana y fin de semana.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desvío = valor medido − valor habitual</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Qué queda</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Positivo: más de lo habitual.</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Negativo: menos de lo habitual.</a:t>
            </a:r>
            <a:endParaRPr lang="en-US" sz="14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Cero: una hora normal.</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Al restar lo habitual desaparece el ciclo diario, y la pregunta pasa a ser: cuando hay más tránsito que lo normal, ¿hay más contaminante que lo normal?</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75120" y="1371600"/>
          <a:ext cx="5056632" cy="1828800"/>
        </p:xfrm>
        <a:graphic>
          <a:graphicData uri="http://schemas.openxmlformats.org/drawingml/2006/table">
            <a:tbl>
              <a:tblPr/>
              <a:tblGrid>
                <a:gridCol w="3200400">
                  <a:extLst>
                    <a:ext uri="{9D8B030D-6E8A-4147-A177-3AD203B41FA5}">
                      <a16:colId xmlns:a16="http://schemas.microsoft.com/office/drawing/2014/main" val="20000"/>
                    </a:ext>
                  </a:extLst>
                </a:gridCol>
                <a:gridCol w="1856232">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Viernes 14 de junio, 18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Tránsito (veh/h)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Medido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34.794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Habitual a las 18 h, días de semana</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36.668</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2B2B2B"/>
                          </a:solidFill>
                          <a:latin typeface="Calibri" pitchFamily="34" charset="0"/>
                          <a:ea typeface="Calibri" pitchFamily="34" charset="-122"/>
                          <a:cs typeface="Calibri" pitchFamily="34" charset="-120"/>
                        </a:rPr>
                        <a:t>Desvío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b="1" dirty="0">
                          <a:solidFill>
                            <a:srgbClr val="2B2B2B"/>
                          </a:solidFill>
                          <a:latin typeface="Calibri" pitchFamily="34" charset="0"/>
                          <a:ea typeface="Calibri" pitchFamily="34" charset="-122"/>
                          <a:cs typeface="Calibri" pitchFamily="34" charset="-120"/>
                        </a:rPr>
                        <a:t>−1.874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675120" y="3474720"/>
            <a:ext cx="5056632" cy="914400"/>
          </a:xfrm>
          <a:prstGeom prst="rect">
            <a:avLst/>
          </a:prstGeom>
          <a:noFill/>
          <a:ln/>
        </p:spPr>
        <p:txBody>
          <a:bodyPr wrap="square" lIns="0" tIns="0" rIns="0" bIns="0" rtlCol="0" anchor="t"/>
          <a:lstStyle/>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Esa hora pasaron unos 1.900 vehículos menos que en un viernes normal a las 18.</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6: </a:t>
            </a:r>
            <a:r>
              <a:rPr lang="en-US" sz="2800" dirty="0">
                <a:solidFill>
                  <a:srgbClr val="5C3A21"/>
                </a:solidFill>
                <a:latin typeface="Georgia" pitchFamily="34" charset="0"/>
                <a:ea typeface="Georgia" pitchFamily="34" charset="-122"/>
                <a:cs typeface="Georgia" pitchFamily="34" charset="-120"/>
              </a:rPr>
              <a:t>sin el ciclo diario</a:t>
            </a:r>
            <a:endParaRPr lang="en-US" sz="2800" dirty="0"/>
          </a:p>
        </p:txBody>
      </p:sp>
      <p:pic>
        <p:nvPicPr>
          <p:cNvPr id="3" name="Image 0" descr="/tmp/deck3/fig/p06_desvios.png"/>
          <p:cNvPicPr>
            <a:picLocks noChangeAspect="1"/>
          </p:cNvPicPr>
          <p:nvPr/>
        </p:nvPicPr>
        <p:blipFill>
          <a:blip r:embed="rId3"/>
          <a:stretch>
            <a:fillRect/>
          </a:stretch>
        </p:blipFill>
        <p:spPr>
          <a:xfrm>
            <a:off x="1615973" y="1188720"/>
            <a:ext cx="8957005"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Cada punto es una hora.</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Ejes: diferencia con lo habitual.</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El cruce de las líneas grises es una hora normal.</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La r del NO₂ baja de 0,59 a 0,20: la mayor parte era el ciclo diario. No llega a cero. El PM2.5 sigue en cero.</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¿qué significa un punto arriba a la derecha?</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def desvio(s):</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clave = [s.index.dayofweek &gt;= 5,</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s.index.hour]</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return s - s.groupby(clave)</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.transform("mean")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Rezago</a:t>
            </a:r>
            <a:endParaRPr lang="en-US" sz="2800" dirty="0"/>
          </a:p>
        </p:txBody>
      </p:sp>
      <p:sp>
        <p:nvSpPr>
          <p:cNvPr id="3" name="Text 1"/>
          <p:cNvSpPr txBox="1"/>
          <p:nvPr/>
        </p:nvSpPr>
        <p:spPr>
          <a:xfrm>
            <a:off x="457200" y="1280160"/>
            <a:ext cx="566928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Idea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El efecto puede llegar después de la causa. Rezagar es comparar el contaminante de ahora con el tránsito de k horas antes.</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Cómo se hace</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Se copia la columna del tránsito corrida k filas. En la tabla, k = 1.</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Qué se grafica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Para cada k se calcula una correlación. En el gráfico del paso 7, k va en el eje horizontal y la correlación en el vertical.</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k negativo: el contaminante antes que el tránsito. Si la causa es el tránsito, ahí no debería aparecer relación.</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75120" y="1371600"/>
          <a:ext cx="5056632"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39112">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Lunes 10/6</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Tránsito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Tránsito 1 h antes</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6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16.524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7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30.533</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16.524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8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42.952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30.533</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9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41.132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42.952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10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37.074</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41.132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6675120" y="4023360"/>
            <a:ext cx="5056632" cy="365760"/>
          </a:xfrm>
          <a:prstGeom prst="rect">
            <a:avLst/>
          </a:prstGeom>
          <a:noFill/>
          <a:ln/>
        </p:spPr>
        <p:txBody>
          <a:bodyPr wrap="square" lIns="0" tIns="0" rIns="0" bIns="0" rtlCol="0" anchor="t"/>
          <a:lstStyle/>
          <a:p>
            <a:pPr marL="0" indent="0">
              <a:spcAft>
                <a:spcPts val="300"/>
              </a:spcAft>
              <a:buNone/>
            </a:pPr>
            <a:r>
              <a:rPr lang="en-US" sz="1100" dirty="0">
                <a:solidFill>
                  <a:srgbClr val="5C3A21"/>
                </a:solidFill>
                <a:latin typeface="Courier New" pitchFamily="34" charset="0"/>
                <a:ea typeface="Courier New" pitchFamily="34" charset="-122"/>
                <a:cs typeface="Courier New" pitchFamily="34" charset="-120"/>
              </a:rPr>
              <a:t>df["transito"].shift(1)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7: </a:t>
            </a:r>
            <a:r>
              <a:rPr lang="en-US" sz="2800" dirty="0">
                <a:solidFill>
                  <a:srgbClr val="5C3A21"/>
                </a:solidFill>
                <a:latin typeface="Georgia" pitchFamily="34" charset="0"/>
                <a:ea typeface="Georgia" pitchFamily="34" charset="-122"/>
                <a:cs typeface="Georgia" pitchFamily="34" charset="-120"/>
              </a:rPr>
              <a:t>correlación con rezagos</a:t>
            </a:r>
            <a:endParaRPr lang="en-US" sz="2800" dirty="0"/>
          </a:p>
        </p:txBody>
      </p:sp>
      <p:pic>
        <p:nvPicPr>
          <p:cNvPr id="3" name="Image 0" descr="/tmp/deck3/fig/p07_rezagos.png"/>
          <p:cNvPicPr>
            <a:picLocks noChangeAspect="1"/>
          </p:cNvPicPr>
          <p:nvPr/>
        </p:nvPicPr>
        <p:blipFill>
          <a:blip r:embed="rId3"/>
          <a:stretch>
            <a:fillRect/>
          </a:stretch>
        </p:blipFill>
        <p:spPr>
          <a:xfrm>
            <a:off x="457200" y="1234440"/>
            <a:ext cx="7040880" cy="3898170"/>
          </a:xfrm>
          <a:prstGeom prst="rect">
            <a:avLst/>
          </a:prstGeom>
        </p:spPr>
      </p:pic>
      <p:sp>
        <p:nvSpPr>
          <p:cNvPr id="4" name="Text 1"/>
          <p:cNvSpPr txBox="1"/>
          <p:nvPr/>
        </p:nvSpPr>
        <p:spPr>
          <a:xfrm>
            <a:off x="7818120" y="1234440"/>
            <a:ext cx="3913632" cy="5257800"/>
          </a:xfrm>
          <a:prstGeom prst="rect">
            <a:avLst/>
          </a:prstGeom>
          <a:noFill/>
          <a:ln/>
        </p:spPr>
        <p:txBody>
          <a:bodyPr wrap="square" lIns="0" tIns="0" rIns="0" bIns="0" rtlCol="0" anchor="t"/>
          <a:lstStyle/>
          <a:p>
            <a:pPr marL="0" indent="0">
              <a:spcAft>
                <a:spcPts val="300"/>
              </a:spcAft>
              <a:buNone/>
            </a:pPr>
            <a:r>
              <a:rPr lang="en-US" sz="1250" b="1" dirty="0">
                <a:solidFill>
                  <a:srgbClr val="2E86AB"/>
                </a:solidFill>
                <a:latin typeface="Calibri" pitchFamily="34" charset="0"/>
                <a:ea typeface="Calibri" pitchFamily="34" charset="-122"/>
                <a:cs typeface="Calibri" pitchFamily="34" charset="-120"/>
              </a:rPr>
              <a:t>Cómo leer el gráfico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horizontal: k, horas de rezago del tránsito.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vertical: correlación de los desvíos.</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Cada punto es una correlación como la del paso 6.</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Qué vemos</a:t>
            </a:r>
            <a:endParaRPr lang="en-US" sz="1250" dirty="0"/>
          </a:p>
          <a:p>
            <a:pPr marL="0" indent="0">
              <a:spcAft>
                <a:spcPts val="300"/>
              </a:spcAft>
              <a:buNone/>
            </a:pPr>
            <a:r>
              <a:rPr lang="en-US" sz="1150" dirty="0">
                <a:solidFill>
                  <a:srgbClr val="2B2B2B"/>
                </a:solidFill>
                <a:latin typeface="Calibri" pitchFamily="34" charset="0"/>
                <a:ea typeface="Calibri" pitchFamily="34" charset="-122"/>
                <a:cs typeface="Calibri" pitchFamily="34" charset="-120"/>
              </a:rPr>
              <a:t>El NO₂ responde en 1 a 2 horas y se apaga en unas 5. El PM2.5 no reacciona en las primeras horas y empieza a subir donde termina el gráfico.</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En Python</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[res["no2"].corr(</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   res["transito"].shift(k))</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 for k in range(-3, 9)]</a:t>
            </a:r>
            <a:endParaRPr lang="en-US" sz="1250" dirty="0"/>
          </a:p>
          <a:p>
            <a:pPr marL="0" indent="0">
              <a:spcBef>
                <a:spcPts val="800"/>
              </a:spcBef>
              <a:spcAft>
                <a:spcPts val="300"/>
              </a:spcAft>
              <a:buNone/>
            </a:pPr>
            <a:r>
              <a:rPr lang="en-US" sz="1150" i="1" dirty="0">
                <a:solidFill>
                  <a:srgbClr val="7B4B2A"/>
                </a:solidFill>
                <a:latin typeface="Calibri" pitchFamily="34" charset="0"/>
                <a:ea typeface="Calibri" pitchFamily="34" charset="-122"/>
                <a:cs typeface="Calibri" pitchFamily="34" charset="-120"/>
              </a:rPr>
              <a:t>Pregunta: ¿qué harían con el PM2.5?</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Comparación con el azar</a:t>
            </a:r>
            <a:endParaRPr lang="en-US" sz="2800" dirty="0"/>
          </a:p>
        </p:txBody>
      </p:sp>
      <p:sp>
        <p:nvSpPr>
          <p:cNvPr id="3" name="Text 1"/>
          <p:cNvSpPr txBox="1"/>
          <p:nvPr/>
        </p:nvSpPr>
        <p:spPr>
          <a:xfrm>
            <a:off x="457200" y="1280160"/>
            <a:ext cx="493776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El problema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Una correlación de 0,2 puede salir por casualidad, sobre todo si se busca el mejor rezago entre varios.</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La idea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Se corre toda la serie de tránsito varios días (lo que sale por el final entra por el principio). Así se rompe cualquier relación real con el aire, pero el tránsito conserva su forma.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Con cada corrimiento se calcula la correlación: eso es lo que da el azar.</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La regla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Si la correlación real queda por encima de casi todas las del azar, es difícil explicarla por casualidad.</a:t>
            </a:r>
            <a:endParaRPr lang="en-US" sz="1400" dirty="0"/>
          </a:p>
        </p:txBody>
      </p:sp>
      <p:pic>
        <p:nvPicPr>
          <p:cNvPr id="4" name="Image 0" descr="/tmp/deck3/fig/t_corrido.png"/>
          <p:cNvPicPr>
            <a:picLocks noChangeAspect="1"/>
          </p:cNvPicPr>
          <p:nvPr/>
        </p:nvPicPr>
        <p:blipFill>
          <a:blip r:embed="rId3"/>
          <a:stretch>
            <a:fillRect/>
          </a:stretch>
        </p:blipFill>
        <p:spPr>
          <a:xfrm>
            <a:off x="5669280" y="1280160"/>
            <a:ext cx="6062472" cy="29312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8: </a:t>
            </a:r>
            <a:r>
              <a:rPr lang="en-US" sz="2800" dirty="0">
                <a:solidFill>
                  <a:srgbClr val="5C3A21"/>
                </a:solidFill>
                <a:latin typeface="Georgia" pitchFamily="34" charset="0"/>
                <a:ea typeface="Georgia" pitchFamily="34" charset="-122"/>
                <a:cs typeface="Georgia" pitchFamily="34" charset="-120"/>
              </a:rPr>
              <a:t>comparación con el azar</a:t>
            </a:r>
            <a:endParaRPr lang="en-US" sz="2800" dirty="0"/>
          </a:p>
        </p:txBody>
      </p:sp>
      <p:pic>
        <p:nvPicPr>
          <p:cNvPr id="3" name="Image 0" descr="/tmp/deck3/fig/p08_azar.png"/>
          <p:cNvPicPr>
            <a:picLocks noChangeAspect="1"/>
          </p:cNvPicPr>
          <p:nvPr/>
        </p:nvPicPr>
        <p:blipFill>
          <a:blip r:embed="rId3"/>
          <a:stretch>
            <a:fillRect/>
          </a:stretch>
        </p:blipFill>
        <p:spPr>
          <a:xfrm>
            <a:off x="1304853" y="1188720"/>
            <a:ext cx="9579246"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Barras grises: cuántas veces el azar dio cada correlación.</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Línea marrón: la correlación real.</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horizontal: correlación (rezagos de 0 a 3 h).</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NO₂: ninguna corrida iguala la correlación real. PM2.5, con rezagos de 0 a 3 horas: queda en el medio del azar.</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¿cómo sabemos que un resultado no es suerte?</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np.roll(res["transito"].to_numpy(),</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24 * 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9: </a:t>
            </a:r>
            <a:r>
              <a:rPr lang="en-US" sz="2800" dirty="0">
                <a:solidFill>
                  <a:srgbClr val="5C3A21"/>
                </a:solidFill>
                <a:latin typeface="Georgia" pitchFamily="34" charset="0"/>
                <a:ea typeface="Georgia" pitchFamily="34" charset="-122"/>
                <a:cs typeface="Georgia" pitchFamily="34" charset="-120"/>
              </a:rPr>
              <a:t>rezagos de hasta 24 horas</a:t>
            </a:r>
            <a:endParaRPr lang="en-US" sz="2800" dirty="0"/>
          </a:p>
        </p:txBody>
      </p:sp>
      <p:pic>
        <p:nvPicPr>
          <p:cNvPr id="3" name="Image 0" descr="/tmp/deck3/fig/p09_ventana.png"/>
          <p:cNvPicPr>
            <a:picLocks noChangeAspect="1"/>
          </p:cNvPicPr>
          <p:nvPr/>
        </p:nvPicPr>
        <p:blipFill>
          <a:blip r:embed="rId3"/>
          <a:stretch>
            <a:fillRect/>
          </a:stretch>
        </p:blipFill>
        <p:spPr>
          <a:xfrm>
            <a:off x="457200" y="1234440"/>
            <a:ext cx="7040880" cy="3723016"/>
          </a:xfrm>
          <a:prstGeom prst="rect">
            <a:avLst/>
          </a:prstGeom>
        </p:spPr>
      </p:pic>
      <p:sp>
        <p:nvSpPr>
          <p:cNvPr id="4" name="Text 1"/>
          <p:cNvSpPr txBox="1"/>
          <p:nvPr/>
        </p:nvSpPr>
        <p:spPr>
          <a:xfrm>
            <a:off x="7818120" y="1234440"/>
            <a:ext cx="3913632" cy="5257800"/>
          </a:xfrm>
          <a:prstGeom prst="rect">
            <a:avLst/>
          </a:prstGeom>
          <a:noFill/>
          <a:ln/>
        </p:spPr>
        <p:txBody>
          <a:bodyPr wrap="square" lIns="0" tIns="0" rIns="0" bIns="0" rtlCol="0" anchor="t"/>
          <a:lstStyle/>
          <a:p>
            <a:pPr marL="0" indent="0">
              <a:spcAft>
                <a:spcPts val="300"/>
              </a:spcAft>
              <a:buNone/>
            </a:pPr>
            <a:r>
              <a:rPr lang="en-US" sz="1250" b="1" dirty="0">
                <a:solidFill>
                  <a:srgbClr val="2E86AB"/>
                </a:solidFill>
                <a:latin typeface="Calibri" pitchFamily="34" charset="0"/>
                <a:ea typeface="Calibri" pitchFamily="34" charset="-122"/>
                <a:cs typeface="Calibri" pitchFamily="34" charset="-120"/>
              </a:rPr>
              <a:t>Cómo leer el gráfico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Igual que el paso 7, con k hasta 24 horas.</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horizontal: horas de rezago.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vertical: correlación.</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Qué vemos</a:t>
            </a:r>
            <a:endParaRPr lang="en-US" sz="1250" dirty="0"/>
          </a:p>
          <a:p>
            <a:pPr marL="0" indent="0">
              <a:spcAft>
                <a:spcPts val="300"/>
              </a:spcAft>
              <a:buNone/>
            </a:pPr>
            <a:r>
              <a:rPr lang="en-US" sz="1150" dirty="0">
                <a:solidFill>
                  <a:srgbClr val="2B2B2B"/>
                </a:solidFill>
                <a:latin typeface="Calibri" pitchFamily="34" charset="0"/>
                <a:ea typeface="Calibri" pitchFamily="34" charset="-122"/>
                <a:cs typeface="Calibri" pitchFamily="34" charset="-120"/>
              </a:rPr>
              <a:t>El NO₂ responde en 1 a 2 horas. El PM2.5 sube desde las 5 horas y llega a su máximo a las 13: se acumula. Tránsito de la mañana (8 h) + 13 h = 21 h, el pico del PM2.5 en el paso 4.</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En Python</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[res["pm25"].corr(</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   res["transito"].shift(k))</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 for k in range(0, 25)]</a:t>
            </a:r>
            <a:endParaRPr lang="en-US" sz="1250" dirty="0"/>
          </a:p>
          <a:p>
            <a:pPr marL="0" indent="0">
              <a:spcBef>
                <a:spcPts val="800"/>
              </a:spcBef>
              <a:spcAft>
                <a:spcPts val="300"/>
              </a:spcAft>
              <a:buNone/>
            </a:pPr>
            <a:r>
              <a:rPr lang="en-US" sz="1150" i="1" dirty="0">
                <a:solidFill>
                  <a:srgbClr val="7B4B2A"/>
                </a:solidFill>
                <a:latin typeface="Calibri" pitchFamily="34" charset="0"/>
                <a:ea typeface="Calibri" pitchFamily="34" charset="-122"/>
                <a:cs typeface="Calibri" pitchFamily="34" charset="-120"/>
              </a:rPr>
              <a:t>Pregunta: ¿de qué hora es el tránsito que respiramos a las 21?</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Regresión lineal</a:t>
            </a:r>
            <a:endParaRPr lang="en-US" sz="2800" dirty="0"/>
          </a:p>
        </p:txBody>
      </p:sp>
      <p:sp>
        <p:nvSpPr>
          <p:cNvPr id="3" name="Text 1"/>
          <p:cNvSpPr txBox="1"/>
          <p:nvPr/>
        </p:nvSpPr>
        <p:spPr>
          <a:xfrm>
            <a:off x="457200" y="1280160"/>
            <a:ext cx="5120640" cy="521208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La recta</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y = a + b·x. La ordenada a es dónde la recta corta el eje vertical; la pendiente b es cuánto sube y cuando x sube una unidad.</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Mínimos cuadrados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De todas las rectas posibles se elige la que hace más chica la suma de los errores al cuadrado. La línea punteada es el error de un punto.</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R²</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Qué parte de la variación de y reproduce el modelo. Va de 0 a 1.</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Cuidado</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Una pendiente clara no implica que la recta explique mucho: los puntos pueden estar lejos.</a:t>
            </a:r>
            <a:endParaRPr lang="en-US" sz="1400" dirty="0"/>
          </a:p>
        </p:txBody>
      </p:sp>
      <p:pic>
        <p:nvPicPr>
          <p:cNvPr id="4" name="Image 0" descr="/tmp/deck3/fig/t_regresion.png"/>
          <p:cNvPicPr>
            <a:picLocks noChangeAspect="1"/>
          </p:cNvPicPr>
          <p:nvPr/>
        </p:nvPicPr>
        <p:blipFill>
          <a:blip r:embed="rId3"/>
          <a:stretch>
            <a:fillRect/>
          </a:stretch>
        </p:blipFill>
        <p:spPr>
          <a:xfrm>
            <a:off x="5852160" y="1280160"/>
            <a:ext cx="5879592" cy="40184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10: </a:t>
            </a:r>
            <a:r>
              <a:rPr lang="en-US" sz="2800" dirty="0">
                <a:solidFill>
                  <a:srgbClr val="5C3A21"/>
                </a:solidFill>
                <a:latin typeface="Georgia" pitchFamily="34" charset="0"/>
                <a:ea typeface="Georgia" pitchFamily="34" charset="-122"/>
                <a:cs typeface="Georgia" pitchFamily="34" charset="-120"/>
              </a:rPr>
              <a:t>modelo de regresión</a:t>
            </a:r>
            <a:endParaRPr lang="en-US" sz="2800" dirty="0"/>
          </a:p>
        </p:txBody>
      </p:sp>
      <p:sp>
        <p:nvSpPr>
          <p:cNvPr id="3" name="Text 1"/>
          <p:cNvSpPr txBox="1"/>
          <p:nvPr/>
        </p:nvSpPr>
        <p:spPr>
          <a:xfrm>
            <a:off x="457200" y="1325880"/>
            <a:ext cx="11274552" cy="457200"/>
          </a:xfrm>
          <a:prstGeom prst="rect">
            <a:avLst/>
          </a:prstGeom>
          <a:noFill/>
          <a:ln/>
        </p:spPr>
        <p:txBody>
          <a:bodyPr wrap="square" lIns="0" tIns="0" rIns="0" bIns="0" rtlCol="0" anchor="t"/>
          <a:lstStyle/>
          <a:p>
            <a:pPr marL="0" indent="0">
              <a:spcAft>
                <a:spcPts val="300"/>
              </a:spcAft>
              <a:buNone/>
            </a:pPr>
            <a:r>
              <a:rPr lang="en-US" sz="1600" dirty="0">
                <a:solidFill>
                  <a:srgbClr val="2B2B2B"/>
                </a:solidFill>
                <a:latin typeface="Calibri" pitchFamily="34" charset="0"/>
                <a:ea typeface="Calibri" pitchFamily="34" charset="-122"/>
                <a:cs typeface="Calibri" pitchFamily="34" charset="-120"/>
              </a:rPr>
              <a:t>lo que medimos = lo habitual de esa hora + lo que agrega el tránsito + lo que no sabemos</a:t>
            </a:r>
            <a:endParaRPr lang="en-US" sz="1600" dirty="0"/>
          </a:p>
        </p:txBody>
      </p:sp>
      <p:sp>
        <p:nvSpPr>
          <p:cNvPr id="4" name="Text 2"/>
          <p:cNvSpPr txBox="1"/>
          <p:nvPr/>
        </p:nvSpPr>
        <p:spPr>
          <a:xfrm>
            <a:off x="457200" y="1920240"/>
            <a:ext cx="11274552"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y(t) = h(t) + a + b·x(t − k) + error</a:t>
            </a:r>
            <a:endParaRPr lang="en-US" sz="2800" dirty="0"/>
          </a:p>
        </p:txBody>
      </p:sp>
      <p:sp>
        <p:nvSpPr>
          <p:cNvPr id="5" name="Text 3"/>
          <p:cNvSpPr txBox="1"/>
          <p:nvPr/>
        </p:nvSpPr>
        <p:spPr>
          <a:xfrm>
            <a:off x="457200" y="2880360"/>
            <a:ext cx="6949440" cy="219456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h(t): lo habitual, el promedio de esa hora del día (pasos 4 y 6).</a:t>
            </a:r>
            <a:endParaRPr lang="en-US" sz="13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x(t − k): desvío del tránsito de k horas antes; k = 1 para el NO₂ y k = 13 para el PM2.5 (pasos 7 y 9).</a:t>
            </a:r>
            <a:endParaRPr lang="en-US" sz="13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a, b: la recta entre los desvíos, por mínimos cuadrados.</a:t>
            </a:r>
            <a:endParaRPr lang="en-US" sz="1300" dirty="0"/>
          </a:p>
          <a:p>
            <a:pPr marL="177800" indent="-177800">
              <a:spcAft>
                <a:spcPts val="300"/>
              </a:spcAft>
              <a:buSzPct val="100000"/>
              <a:buChar char="•"/>
            </a:pPr>
            <a:r>
              <a:rPr lang="en-US" sz="1300" dirty="0">
                <a:solidFill>
                  <a:srgbClr val="2B2B2B"/>
                </a:solidFill>
                <a:latin typeface="Calibri" pitchFamily="34" charset="0"/>
                <a:ea typeface="Calibri" pitchFamily="34" charset="-122"/>
                <a:cs typeface="Calibri" pitchFamily="34" charset="-120"/>
              </a:rPr>
              <a:t>error: lo que el modelo no incluye (viento, lluvia, otras fuentes).</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0" y="2926080"/>
          <a:ext cx="3959352" cy="1371600"/>
        </p:xfrm>
        <a:graphic>
          <a:graphicData uri="http://schemas.openxmlformats.org/drawingml/2006/table">
            <a:tbl>
              <a:tblPr/>
              <a:tblGrid>
                <a:gridCol w="7772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996696">
                  <a:extLst>
                    <a:ext uri="{9D8B030D-6E8A-4147-A177-3AD203B41FA5}">
                      <a16:colId xmlns:a16="http://schemas.microsoft.com/office/drawing/2014/main" val="20003"/>
                    </a:ext>
                  </a:extLst>
                </a:gridCol>
                <a:gridCol w="996696">
                  <a:extLst>
                    <a:ext uri="{9D8B030D-6E8A-4147-A177-3AD203B41FA5}">
                      <a16:colId xmlns:a16="http://schemas.microsoft.com/office/drawing/2014/main" val="20004"/>
                    </a:ext>
                  </a:extLst>
                </a:gridCol>
              </a:tblGrid>
              <a:tr h="457200">
                <a:tc>
                  <a:txBody>
                    <a:bodyPr/>
                    <a:lstStyle/>
                    <a:p>
                      <a:pPr marL="0" indent="0">
                        <a:buNone/>
                      </a:pP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 *</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 solo h(t)</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 con tránsito</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2E86AB"/>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NO₂</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0,47</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b="1" dirty="0">
                          <a:solidFill>
                            <a:srgbClr val="2B2B2B"/>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PM2.5</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13 h</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dirty="0">
                          <a:solidFill>
                            <a:srgbClr val="2B2B2B"/>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tc>
                  <a:txBody>
                    <a:bodyPr/>
                    <a:lstStyle/>
                    <a:p>
                      <a:pPr marL="0" indent="0">
                        <a:buNone/>
                      </a:pPr>
                      <a:r>
                        <a:rPr lang="en-US" sz="1200" b="1" dirty="0">
                          <a:solidFill>
                            <a:srgbClr val="2B2B2B"/>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anchor="ctr">
                    <a:lnL w="6350" cap="flat" cmpd="sng" algn="ctr">
                      <a:solidFill>
                        <a:srgbClr val="C9D8DF"/>
                      </a:solidFill>
                      <a:prstDash val="solid"/>
                      <a:round/>
                      <a:headEnd type="none" w="med" len="med"/>
                      <a:tailEnd type="none" w="med" len="med"/>
                    </a:lnL>
                    <a:lnR w="6350" cap="flat" cmpd="sng" algn="ctr">
                      <a:solidFill>
                        <a:srgbClr val="C9D8DF"/>
                      </a:solidFill>
                      <a:prstDash val="solid"/>
                      <a:round/>
                      <a:headEnd type="none" w="med" len="med"/>
                      <a:tailEnd type="none" w="med" len="med"/>
                    </a:lnR>
                    <a:lnT w="6350" cap="flat" cmpd="sng" algn="ctr">
                      <a:solidFill>
                        <a:srgbClr val="C9D8DF"/>
                      </a:solidFill>
                      <a:prstDash val="solid"/>
                      <a:round/>
                      <a:headEnd type="none" w="med" len="med"/>
                      <a:tailEnd type="none" w="med" len="med"/>
                    </a:lnT>
                    <a:lnB w="6350" cap="flat" cmpd="sng" algn="ctr">
                      <a:solidFill>
                        <a:srgbClr val="C9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7772400" y="4389120"/>
            <a:ext cx="3959352" cy="365760"/>
          </a:xfrm>
          <a:prstGeom prst="rect">
            <a:avLst/>
          </a:prstGeom>
          <a:noFill/>
          <a:ln/>
        </p:spPr>
        <p:txBody>
          <a:bodyPr wrap="square" lIns="0" tIns="0" rIns="0" bIns="0" rtlCol="0" anchor="t"/>
          <a:lstStyle/>
          <a:p>
            <a:pPr marL="0" indent="0">
              <a:spcAft>
                <a:spcPts val="300"/>
              </a:spcAft>
              <a:buNone/>
            </a:pPr>
            <a:r>
              <a:rPr lang="en-US" sz="1000" dirty="0">
                <a:solidFill>
                  <a:srgbClr val="2B2B2B"/>
                </a:solidFill>
                <a:latin typeface="Calibri" pitchFamily="34" charset="0"/>
                <a:ea typeface="Calibri" pitchFamily="34" charset="-122"/>
                <a:cs typeface="Calibri" pitchFamily="34" charset="-120"/>
              </a:rPr>
              <a:t>* µg/m³ por cada 1.000 vehículos por hora de más</a:t>
            </a:r>
            <a:endParaRPr lang="en-US" sz="1000" dirty="0"/>
          </a:p>
        </p:txBody>
      </p:sp>
      <p:sp>
        <p:nvSpPr>
          <p:cNvPr id="8" name="Text 5"/>
          <p:cNvSpPr txBox="1"/>
          <p:nvPr/>
        </p:nvSpPr>
        <p:spPr>
          <a:xfrm>
            <a:off x="457200" y="5577840"/>
            <a:ext cx="11274552" cy="731520"/>
          </a:xfrm>
          <a:prstGeom prst="rect">
            <a:avLst/>
          </a:prstGeom>
          <a:noFill/>
          <a:ln/>
        </p:spPr>
        <p:txBody>
          <a:bodyPr wrap="square" lIns="0" tIns="0" rIns="0" bIns="0" rtlCol="0" anchor="t"/>
          <a:lstStyle/>
          <a:p>
            <a:pPr marL="0" indent="0">
              <a:spcAft>
                <a:spcPts val="300"/>
              </a:spcAft>
              <a:buNone/>
            </a:pPr>
            <a:r>
              <a:rPr lang="en-US" sz="1100" dirty="0">
                <a:solidFill>
                  <a:srgbClr val="5C3A21"/>
                </a:solidFill>
                <a:latin typeface="Courier New" pitchFamily="34" charset="0"/>
                <a:ea typeface="Courier New" pitchFamily="34" charset="-122"/>
                <a:cs typeface="Courier New" pitchFamily="34" charset="-120"/>
              </a:rPr>
              <a:t>b, a = np.polyfit(x_desvio, y_desvio, 1)     # la recta entre los desvíos</a:t>
            </a:r>
            <a:endParaRPr lang="en-US" sz="1100" dirty="0"/>
          </a:p>
          <a:p>
            <a:pPr marL="0" indent="0">
              <a:spcAft>
                <a:spcPts val="300"/>
              </a:spcAft>
              <a:buNone/>
            </a:pPr>
            <a:r>
              <a:rPr lang="en-US" sz="1100" dirty="0">
                <a:solidFill>
                  <a:srgbClr val="5C3A21"/>
                </a:solidFill>
                <a:latin typeface="Courier New" pitchFamily="34" charset="0"/>
                <a:ea typeface="Courier New" pitchFamily="34" charset="-122"/>
                <a:cs typeface="Courier New" pitchFamily="34" charset="-120"/>
              </a:rPr>
              <a:t>modelo = habitual + a + b * x_desvio         # la predicción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10a: </a:t>
            </a:r>
            <a:r>
              <a:rPr lang="en-US" sz="2800" dirty="0">
                <a:solidFill>
                  <a:srgbClr val="5C3A21"/>
                </a:solidFill>
                <a:latin typeface="Georgia" pitchFamily="34" charset="0"/>
                <a:ea typeface="Georgia" pitchFamily="34" charset="-122"/>
                <a:cs typeface="Georgia" pitchFamily="34" charset="-120"/>
              </a:rPr>
              <a:t>la recta entre los desvíos</a:t>
            </a:r>
            <a:endParaRPr lang="en-US" sz="2800" dirty="0"/>
          </a:p>
        </p:txBody>
      </p:sp>
      <p:pic>
        <p:nvPicPr>
          <p:cNvPr id="3" name="Image 0" descr="/tmp/deck3/fig/p10a_recta.png"/>
          <p:cNvPicPr>
            <a:picLocks noChangeAspect="1"/>
          </p:cNvPicPr>
          <p:nvPr/>
        </p:nvPicPr>
        <p:blipFill>
          <a:blip r:embed="rId3"/>
          <a:stretch>
            <a:fillRect/>
          </a:stretch>
        </p:blipFill>
        <p:spPr>
          <a:xfrm>
            <a:off x="1622362" y="1188720"/>
            <a:ext cx="8944228"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Cada punto es una hora.</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horizontal: desvío del tránsito, k horas antes.</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Eje vertical: desvío del contaminante. La recta, en marrón.</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b = 1,2: con 5.000 vehículos por hora de más, el NO₂ sube unos 6 µg/m³, cerca del 15 % de su nivel. El PM2.5 responde con fuerza parecida, 13 horas después.</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¿cuánto bajaría el NO₂ con 5.000 autos menos por hora?</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b, a = np.polyfit(</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d["transito_desvio"],</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d["desvio"], 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10b: </a:t>
            </a:r>
            <a:r>
              <a:rPr lang="en-US" sz="2800" dirty="0">
                <a:solidFill>
                  <a:srgbClr val="5C3A21"/>
                </a:solidFill>
                <a:latin typeface="Georgia" pitchFamily="34" charset="0"/>
                <a:ea typeface="Georgia" pitchFamily="34" charset="-122"/>
                <a:cs typeface="Georgia" pitchFamily="34" charset="-120"/>
              </a:rPr>
              <a:t>modelo y valores medidos</a:t>
            </a:r>
            <a:endParaRPr lang="en-US" sz="2800" dirty="0"/>
          </a:p>
        </p:txBody>
      </p:sp>
      <p:pic>
        <p:nvPicPr>
          <p:cNvPr id="3" name="Image 0" descr="/tmp/deck3/fig/p10b_modelo.png"/>
          <p:cNvPicPr>
            <a:picLocks noChangeAspect="1"/>
          </p:cNvPicPr>
          <p:nvPr/>
        </p:nvPicPr>
        <p:blipFill>
          <a:blip r:embed="rId3"/>
          <a:stretch>
            <a:fillRect/>
          </a:stretch>
        </p:blipFill>
        <p:spPr>
          <a:xfrm>
            <a:off x="457200" y="1234440"/>
            <a:ext cx="7040880" cy="4072975"/>
          </a:xfrm>
          <a:prstGeom prst="rect">
            <a:avLst/>
          </a:prstGeom>
        </p:spPr>
      </p:pic>
      <p:sp>
        <p:nvSpPr>
          <p:cNvPr id="4" name="Text 1"/>
          <p:cNvSpPr txBox="1"/>
          <p:nvPr/>
        </p:nvSpPr>
        <p:spPr>
          <a:xfrm>
            <a:off x="7818120" y="1234440"/>
            <a:ext cx="3913632" cy="5257800"/>
          </a:xfrm>
          <a:prstGeom prst="rect">
            <a:avLst/>
          </a:prstGeom>
          <a:noFill/>
          <a:ln/>
        </p:spPr>
        <p:txBody>
          <a:bodyPr wrap="square" lIns="0" tIns="0" rIns="0" bIns="0" rtlCol="0" anchor="t"/>
          <a:lstStyle/>
          <a:p>
            <a:pPr marL="0" indent="0">
              <a:spcAft>
                <a:spcPts val="300"/>
              </a:spcAft>
              <a:buNone/>
            </a:pPr>
            <a:r>
              <a:rPr lang="en-US" sz="1250" b="1" dirty="0">
                <a:solidFill>
                  <a:srgbClr val="2E86AB"/>
                </a:solidFill>
                <a:latin typeface="Calibri" pitchFamily="34" charset="0"/>
                <a:ea typeface="Calibri" pitchFamily="34" charset="-122"/>
                <a:cs typeface="Calibri" pitchFamily="34" charset="-120"/>
              </a:rPr>
              <a:t>Cómo leer el gráfico</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Eje horizontal: una semana, hora a hora.</a:t>
            </a:r>
            <a:endParaRPr lang="en-US" sz="1250" dirty="0"/>
          </a:p>
          <a:p>
            <a:pPr marL="177800" indent="-1778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Negro: medido. Gris: solo lo habitual. Celeste: habitual más tránsito.</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Qué vemos</a:t>
            </a:r>
            <a:endParaRPr lang="en-US" sz="1250" dirty="0"/>
          </a:p>
          <a:p>
            <a:pPr marL="0" indent="0">
              <a:spcAft>
                <a:spcPts val="300"/>
              </a:spcAft>
              <a:buNone/>
            </a:pPr>
            <a:r>
              <a:rPr lang="en-US" sz="1150" dirty="0">
                <a:solidFill>
                  <a:srgbClr val="2B2B2B"/>
                </a:solidFill>
                <a:latin typeface="Calibri" pitchFamily="34" charset="0"/>
                <a:ea typeface="Calibri" pitchFamily="34" charset="-122"/>
                <a:cs typeface="Calibri" pitchFamily="34" charset="-120"/>
              </a:rPr>
              <a:t>Sin ninguna otra variable, el modelo sigue la forma de cada día. Se equivoca en los episodios y en algunas noches: ahí está lo que no incluye.</a:t>
            </a:r>
            <a:endParaRPr lang="en-US" sz="1250" dirty="0"/>
          </a:p>
          <a:p>
            <a:pPr marL="0" indent="0">
              <a:spcBef>
                <a:spcPts val="800"/>
              </a:spcBef>
              <a:spcAft>
                <a:spcPts val="300"/>
              </a:spcAft>
              <a:buNone/>
            </a:pPr>
            <a:r>
              <a:rPr lang="en-US" sz="1250" b="1" dirty="0">
                <a:solidFill>
                  <a:srgbClr val="2E86AB"/>
                </a:solidFill>
                <a:latin typeface="Calibri" pitchFamily="34" charset="0"/>
                <a:ea typeface="Calibri" pitchFamily="34" charset="-122"/>
                <a:cs typeface="Calibri" pitchFamily="34" charset="-120"/>
              </a:rPr>
              <a:t>En Python</a:t>
            </a:r>
            <a:endParaRPr lang="en-US" sz="1250" dirty="0"/>
          </a:p>
          <a:p>
            <a:pPr marL="0" indent="0">
              <a:spcAft>
                <a:spcPts val="300"/>
              </a:spcAft>
              <a:buNone/>
            </a:pPr>
            <a:r>
              <a:rPr lang="en-US" sz="950" dirty="0">
                <a:solidFill>
                  <a:srgbClr val="5C3A21"/>
                </a:solidFill>
                <a:latin typeface="Courier New" pitchFamily="34" charset="0"/>
                <a:ea typeface="Courier New" pitchFamily="34" charset="-122"/>
                <a:cs typeface="Courier New" pitchFamily="34" charset="-120"/>
              </a:rPr>
              <a:t>modelo = habitual + a + b * x_desvio</a:t>
            </a:r>
            <a:endParaRPr lang="en-US" sz="1250" dirty="0"/>
          </a:p>
          <a:p>
            <a:pPr marL="0" indent="0">
              <a:spcBef>
                <a:spcPts val="800"/>
              </a:spcBef>
              <a:spcAft>
                <a:spcPts val="300"/>
              </a:spcAft>
              <a:buNone/>
            </a:pPr>
            <a:r>
              <a:rPr lang="en-US" sz="1150" i="1" dirty="0">
                <a:solidFill>
                  <a:srgbClr val="7B4B2A"/>
                </a:solidFill>
                <a:latin typeface="Calibri" pitchFamily="34" charset="0"/>
                <a:ea typeface="Calibri" pitchFamily="34" charset="-122"/>
                <a:cs typeface="Calibri" pitchFamily="34" charset="-120"/>
              </a:rPr>
              <a:t>Pregunta: ¿qué pasó la noche del viernes 7, cuando el NO₂ cayó casi a cero?</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2E86AB"/>
                </a:solidFill>
                <a:latin typeface="Georgia" pitchFamily="34" charset="0"/>
                <a:ea typeface="Georgia" pitchFamily="34" charset="-122"/>
                <a:cs typeface="Georgia" pitchFamily="34" charset="-120"/>
              </a:rPr>
              <a:t>Paso 11: </a:t>
            </a:r>
            <a:r>
              <a:rPr lang="en-US" sz="2800" dirty="0">
                <a:solidFill>
                  <a:srgbClr val="5C3A21"/>
                </a:solidFill>
                <a:latin typeface="Georgia" pitchFamily="34" charset="0"/>
                <a:ea typeface="Georgia" pitchFamily="34" charset="-122"/>
                <a:cs typeface="Georgia" pitchFamily="34" charset="-120"/>
              </a:rPr>
              <a:t>la misma pregunta en otra estación</a:t>
            </a:r>
            <a:endParaRPr lang="en-US" sz="2800" dirty="0"/>
          </a:p>
        </p:txBody>
      </p:sp>
      <p:pic>
        <p:nvPicPr>
          <p:cNvPr id="3" name="Image 0" descr="/tmp/deck3/fig/p11_otra.png"/>
          <p:cNvPicPr>
            <a:picLocks noChangeAspect="1"/>
          </p:cNvPicPr>
          <p:nvPr/>
        </p:nvPicPr>
        <p:blipFill>
          <a:blip r:embed="rId3"/>
          <a:stretch>
            <a:fillRect/>
          </a:stretch>
        </p:blipFill>
        <p:spPr>
          <a:xfrm>
            <a:off x="905047" y="1188720"/>
            <a:ext cx="10378858" cy="3520440"/>
          </a:xfrm>
          <a:prstGeom prst="rect">
            <a:avLst/>
          </a:prstGeom>
        </p:spPr>
      </p:pic>
      <p:sp>
        <p:nvSpPr>
          <p:cNvPr id="4" name="Text 1"/>
          <p:cNvSpPr txBox="1"/>
          <p:nvPr/>
        </p:nvSpPr>
        <p:spPr>
          <a:xfrm>
            <a:off x="457200" y="4892040"/>
            <a:ext cx="35661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Cómo leer el gráfico</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Izquierda: como el paso 7, una línea por estación.</a:t>
            </a:r>
            <a:endParaRPr lang="en-US" sz="1200" dirty="0"/>
          </a:p>
          <a:p>
            <a:pPr marL="177800" indent="-177800">
              <a:spcAft>
                <a:spcPts val="300"/>
              </a:spcAft>
              <a:buSzPct val="100000"/>
              <a:buChar char="•"/>
            </a:pPr>
            <a:r>
              <a:rPr lang="en-US" sz="1100" dirty="0">
                <a:solidFill>
                  <a:srgbClr val="2B2B2B"/>
                </a:solidFill>
                <a:latin typeface="Calibri" pitchFamily="34" charset="0"/>
                <a:ea typeface="Calibri" pitchFamily="34" charset="-122"/>
                <a:cs typeface="Calibri" pitchFamily="34" charset="-120"/>
              </a:rPr>
              <a:t>Derecha: barra = correlación real; puntos grises = corrimientos al azar.</a:t>
            </a:r>
            <a:endParaRPr lang="en-US" sz="1200" dirty="0"/>
          </a:p>
        </p:txBody>
      </p:sp>
      <p:sp>
        <p:nvSpPr>
          <p:cNvPr id="5" name="Text 2"/>
          <p:cNvSpPr txBox="1"/>
          <p:nvPr/>
        </p:nvSpPr>
        <p:spPr>
          <a:xfrm>
            <a:off x="4297680" y="4892040"/>
            <a:ext cx="4023360"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Qué vemos</a:t>
            </a:r>
            <a:endParaRPr lang="en-US" sz="1200" dirty="0"/>
          </a:p>
          <a:p>
            <a:pPr marL="0" indent="0">
              <a:spcAft>
                <a:spcPts val="300"/>
              </a:spcAft>
              <a:buNone/>
            </a:pPr>
            <a:r>
              <a:rPr lang="en-US" sz="1100" dirty="0">
                <a:solidFill>
                  <a:srgbClr val="2B2B2B"/>
                </a:solidFill>
                <a:latin typeface="Calibri" pitchFamily="34" charset="0"/>
                <a:ea typeface="Calibri" pitchFamily="34" charset="-122"/>
                <a:cs typeface="Calibri" pitchFamily="34" charset="-120"/>
              </a:rPr>
              <a:t>Tres Cruces (55 puntos de conteo cerca): la relación aparece y supera al azar. Curva de Maroñas (4 puntos): queda en medio del azar.</a:t>
            </a:r>
            <a:endParaRPr lang="en-US" sz="1200" dirty="0"/>
          </a:p>
          <a:p>
            <a:pPr marL="0" indent="0">
              <a:spcBef>
                <a:spcPts val="800"/>
              </a:spcBef>
              <a:spcAft>
                <a:spcPts val="300"/>
              </a:spcAft>
              <a:buNone/>
            </a:pPr>
            <a:r>
              <a:rPr lang="en-US" sz="1100" i="1" dirty="0">
                <a:solidFill>
                  <a:srgbClr val="7B4B2A"/>
                </a:solidFill>
                <a:latin typeface="Calibri" pitchFamily="34" charset="0"/>
                <a:ea typeface="Calibri" pitchFamily="34" charset="-122"/>
                <a:cs typeface="Calibri" pitchFamily="34" charset="-120"/>
              </a:rPr>
              <a:t>Pregunta: ¿que no se vea significa que no existe?</a:t>
            </a:r>
            <a:endParaRPr lang="en-US" sz="1200" dirty="0"/>
          </a:p>
        </p:txBody>
      </p:sp>
      <p:sp>
        <p:nvSpPr>
          <p:cNvPr id="6" name="Text 3"/>
          <p:cNvSpPr txBox="1"/>
          <p:nvPr/>
        </p:nvSpPr>
        <p:spPr>
          <a:xfrm>
            <a:off x="8595360" y="4892040"/>
            <a:ext cx="3136392" cy="1737360"/>
          </a:xfrm>
          <a:prstGeom prst="rect">
            <a:avLst/>
          </a:prstGeom>
          <a:noFill/>
          <a:ln/>
        </p:spPr>
        <p:txBody>
          <a:bodyPr wrap="square" lIns="0" tIns="0" rIns="0" bIns="0" rtlCol="0" anchor="t"/>
          <a:lstStyle/>
          <a:p>
            <a:pPr marL="0" indent="0">
              <a:spcAft>
                <a:spcPts val="300"/>
              </a:spcAft>
              <a:buNone/>
            </a:pPr>
            <a:r>
              <a:rPr lang="en-US" sz="1200" b="1" dirty="0">
                <a:solidFill>
                  <a:srgbClr val="2E86AB"/>
                </a:solidFill>
                <a:latin typeface="Calibri" pitchFamily="34" charset="0"/>
                <a:ea typeface="Calibri" pitchFamily="34" charset="-122"/>
                <a:cs typeface="Calibri" pitchFamily="34" charset="-120"/>
              </a:rPr>
              <a:t>En Python</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for est in estaciones_no2:</a:t>
            </a:r>
            <a:endParaRPr lang="en-US" sz="1200" dirty="0"/>
          </a:p>
          <a:p>
            <a:pPr marL="0" indent="0">
              <a:spcAft>
                <a:spcPts val="300"/>
              </a:spcAft>
              <a:buNone/>
            </a:pPr>
            <a:r>
              <a:rPr lang="en-US" sz="900" dirty="0">
                <a:solidFill>
                  <a:srgbClr val="5C3A21"/>
                </a:solidFill>
                <a:latin typeface="Courier New" pitchFamily="34" charset="0"/>
                <a:ea typeface="Courier New" pitchFamily="34" charset="-122"/>
                <a:cs typeface="Courier New" pitchFamily="34" charset="-120"/>
              </a:rPr>
              <a:t>    serie, cerca = serie_estacion(est)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Otras variables que podrían explicar el aire</a:t>
            </a:r>
            <a:endParaRPr lang="en-US" sz="2800" dirty="0"/>
          </a:p>
        </p:txBody>
      </p:sp>
      <p:pic>
        <p:nvPicPr>
          <p:cNvPr id="3" name="Image 0" descr="/tmp/deck3/ico_cel/wind.png"/>
          <p:cNvPicPr>
            <a:picLocks noChangeAspect="1"/>
          </p:cNvPicPr>
          <p:nvPr/>
        </p:nvPicPr>
        <p:blipFill>
          <a:blip r:embed="rId3"/>
          <a:stretch>
            <a:fillRect/>
          </a:stretch>
        </p:blipFill>
        <p:spPr>
          <a:xfrm>
            <a:off x="457200" y="1371600"/>
            <a:ext cx="777240" cy="777240"/>
          </a:xfrm>
          <a:prstGeom prst="rect">
            <a:avLst/>
          </a:prstGeom>
        </p:spPr>
      </p:pic>
      <p:sp>
        <p:nvSpPr>
          <p:cNvPr id="4" name="Text 1"/>
          <p:cNvSpPr txBox="1"/>
          <p:nvPr/>
        </p:nvSpPr>
        <p:spPr>
          <a:xfrm>
            <a:off x="457200" y="22860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Viento</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Dispersa o trae contaminantes; la dirección importa.</a:t>
            </a:r>
            <a:endParaRPr lang="en-US" sz="1300" dirty="0"/>
          </a:p>
        </p:txBody>
      </p:sp>
      <p:pic>
        <p:nvPicPr>
          <p:cNvPr id="5" name="Image 1" descr="/tmp/deck3/ico_cel/rain.png"/>
          <p:cNvPicPr>
            <a:picLocks noChangeAspect="1"/>
          </p:cNvPicPr>
          <p:nvPr/>
        </p:nvPicPr>
        <p:blipFill>
          <a:blip r:embed="rId4"/>
          <a:stretch>
            <a:fillRect/>
          </a:stretch>
        </p:blipFill>
        <p:spPr>
          <a:xfrm>
            <a:off x="3337560" y="1371600"/>
            <a:ext cx="777240" cy="777240"/>
          </a:xfrm>
          <a:prstGeom prst="rect">
            <a:avLst/>
          </a:prstGeom>
        </p:spPr>
      </p:pic>
      <p:sp>
        <p:nvSpPr>
          <p:cNvPr id="6" name="Text 2"/>
          <p:cNvSpPr txBox="1"/>
          <p:nvPr/>
        </p:nvSpPr>
        <p:spPr>
          <a:xfrm>
            <a:off x="3337560" y="22860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Lluvia</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Lava el material particulado del aire.</a:t>
            </a:r>
            <a:endParaRPr lang="en-US" sz="1300" dirty="0"/>
          </a:p>
        </p:txBody>
      </p:sp>
      <p:pic>
        <p:nvPicPr>
          <p:cNvPr id="7" name="Image 2" descr="/tmp/deck3/ico_cel/temp.png"/>
          <p:cNvPicPr>
            <a:picLocks noChangeAspect="1"/>
          </p:cNvPicPr>
          <p:nvPr/>
        </p:nvPicPr>
        <p:blipFill>
          <a:blip r:embed="rId5"/>
          <a:stretch>
            <a:fillRect/>
          </a:stretch>
        </p:blipFill>
        <p:spPr>
          <a:xfrm>
            <a:off x="6217920" y="1371600"/>
            <a:ext cx="777240" cy="777240"/>
          </a:xfrm>
          <a:prstGeom prst="rect">
            <a:avLst/>
          </a:prstGeom>
        </p:spPr>
      </p:pic>
      <p:sp>
        <p:nvSpPr>
          <p:cNvPr id="8" name="Text 3"/>
          <p:cNvSpPr txBox="1"/>
          <p:nvPr/>
        </p:nvSpPr>
        <p:spPr>
          <a:xfrm>
            <a:off x="6217920" y="22860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Temperatura</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Las noches frías dispersan peor.</a:t>
            </a:r>
            <a:endParaRPr lang="en-US" sz="1300" dirty="0"/>
          </a:p>
        </p:txBody>
      </p:sp>
      <p:pic>
        <p:nvPicPr>
          <p:cNvPr id="9" name="Image 3" descr="/tmp/deck3/ico_cel/hum.png"/>
          <p:cNvPicPr>
            <a:picLocks noChangeAspect="1"/>
          </p:cNvPicPr>
          <p:nvPr/>
        </p:nvPicPr>
        <p:blipFill>
          <a:blip r:embed="rId6"/>
          <a:stretch>
            <a:fillRect/>
          </a:stretch>
        </p:blipFill>
        <p:spPr>
          <a:xfrm>
            <a:off x="9098280" y="1371600"/>
            <a:ext cx="777240" cy="777240"/>
          </a:xfrm>
          <a:prstGeom prst="rect">
            <a:avLst/>
          </a:prstGeom>
        </p:spPr>
      </p:pic>
      <p:sp>
        <p:nvSpPr>
          <p:cNvPr id="10" name="Text 4"/>
          <p:cNvSpPr txBox="1"/>
          <p:nvPr/>
        </p:nvSpPr>
        <p:spPr>
          <a:xfrm>
            <a:off x="9098280" y="22860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Humedad</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Cambia la formación de partículas.</a:t>
            </a:r>
            <a:endParaRPr lang="en-US" sz="1300" dirty="0"/>
          </a:p>
        </p:txBody>
      </p:sp>
      <p:pic>
        <p:nvPicPr>
          <p:cNvPr id="11" name="Image 4" descr="/tmp/deck3/ico_mar/cal.png"/>
          <p:cNvPicPr>
            <a:picLocks noChangeAspect="1"/>
          </p:cNvPicPr>
          <p:nvPr/>
        </p:nvPicPr>
        <p:blipFill>
          <a:blip r:embed="rId7"/>
          <a:stretch>
            <a:fillRect/>
          </a:stretch>
        </p:blipFill>
        <p:spPr>
          <a:xfrm>
            <a:off x="457200" y="3886200"/>
            <a:ext cx="777240" cy="777240"/>
          </a:xfrm>
          <a:prstGeom prst="rect">
            <a:avLst/>
          </a:prstGeom>
        </p:spPr>
      </p:pic>
      <p:sp>
        <p:nvSpPr>
          <p:cNvPr id="12" name="Text 5"/>
          <p:cNvSpPr txBox="1"/>
          <p:nvPr/>
        </p:nvSpPr>
        <p:spPr>
          <a:xfrm>
            <a:off x="457200" y="48006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Feriados y eventos</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Cambian el tránsito sin cambiar el clima.</a:t>
            </a:r>
            <a:endParaRPr lang="en-US" sz="1300" dirty="0"/>
          </a:p>
        </p:txBody>
      </p:sp>
      <p:pic>
        <p:nvPicPr>
          <p:cNvPr id="13" name="Image 5" descr="/tmp/deck3/ico_mar/fire.png"/>
          <p:cNvPicPr>
            <a:picLocks noChangeAspect="1"/>
          </p:cNvPicPr>
          <p:nvPr/>
        </p:nvPicPr>
        <p:blipFill>
          <a:blip r:embed="rId8"/>
          <a:stretch>
            <a:fillRect/>
          </a:stretch>
        </p:blipFill>
        <p:spPr>
          <a:xfrm>
            <a:off x="3337560" y="3886200"/>
            <a:ext cx="777240" cy="777240"/>
          </a:xfrm>
          <a:prstGeom prst="rect">
            <a:avLst/>
          </a:prstGeom>
        </p:spPr>
      </p:pic>
      <p:sp>
        <p:nvSpPr>
          <p:cNvPr id="14" name="Text 6"/>
          <p:cNvSpPr txBox="1"/>
          <p:nvPr/>
        </p:nvSpPr>
        <p:spPr>
          <a:xfrm>
            <a:off x="3337560" y="48006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Leña y quemas</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Fuente de PM2.5, sobre todo en invierno y de noche.</a:t>
            </a:r>
            <a:endParaRPr lang="en-US" sz="1300" dirty="0"/>
          </a:p>
        </p:txBody>
      </p:sp>
      <p:pic>
        <p:nvPicPr>
          <p:cNvPr id="15" name="Image 6" descr="/tmp/deck3/ico_mar/ind.png"/>
          <p:cNvPicPr>
            <a:picLocks noChangeAspect="1"/>
          </p:cNvPicPr>
          <p:nvPr/>
        </p:nvPicPr>
        <p:blipFill>
          <a:blip r:embed="rId9"/>
          <a:stretch>
            <a:fillRect/>
          </a:stretch>
        </p:blipFill>
        <p:spPr>
          <a:xfrm>
            <a:off x="6217920" y="3886200"/>
            <a:ext cx="777240" cy="777240"/>
          </a:xfrm>
          <a:prstGeom prst="rect">
            <a:avLst/>
          </a:prstGeom>
        </p:spPr>
      </p:pic>
      <p:sp>
        <p:nvSpPr>
          <p:cNvPr id="16" name="Text 7"/>
          <p:cNvSpPr txBox="1"/>
          <p:nvPr/>
        </p:nvSpPr>
        <p:spPr>
          <a:xfrm>
            <a:off x="6217920" y="48006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Industria</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La refinería publica emisiones horarias por chimenea.</a:t>
            </a:r>
            <a:endParaRPr lang="en-US" sz="1300" dirty="0"/>
          </a:p>
        </p:txBody>
      </p:sp>
      <p:pic>
        <p:nvPicPr>
          <p:cNvPr id="17" name="Image 7" descr="/tmp/deck3/ico_mar/bus.png"/>
          <p:cNvPicPr>
            <a:picLocks noChangeAspect="1"/>
          </p:cNvPicPr>
          <p:nvPr/>
        </p:nvPicPr>
        <p:blipFill>
          <a:blip r:embed="rId10"/>
          <a:stretch>
            <a:fillRect/>
          </a:stretch>
        </p:blipFill>
        <p:spPr>
          <a:xfrm>
            <a:off x="9098280" y="3886200"/>
            <a:ext cx="777240" cy="777240"/>
          </a:xfrm>
          <a:prstGeom prst="rect">
            <a:avLst/>
          </a:prstGeom>
        </p:spPr>
      </p:pic>
      <p:sp>
        <p:nvSpPr>
          <p:cNvPr id="18" name="Text 8"/>
          <p:cNvSpPr txBox="1"/>
          <p:nvPr/>
        </p:nvSpPr>
        <p:spPr>
          <a:xfrm>
            <a:off x="9098280" y="4800600"/>
            <a:ext cx="2651760" cy="1371600"/>
          </a:xfrm>
          <a:prstGeom prst="rect">
            <a:avLst/>
          </a:prstGeom>
          <a:noFill/>
          <a:ln/>
        </p:spPr>
        <p:txBody>
          <a:bodyPr wrap="square" lIns="0" tIns="0" rIns="0" bIns="0" rtlCol="0" anchor="t"/>
          <a:lstStyle/>
          <a:p>
            <a:pPr marL="0" indent="0">
              <a:spcAft>
                <a:spcPts val="300"/>
              </a:spcAft>
              <a:buNone/>
            </a:pPr>
            <a:r>
              <a:rPr lang="en-US" sz="1300" b="1" dirty="0">
                <a:solidFill>
                  <a:srgbClr val="2E86AB"/>
                </a:solidFill>
                <a:latin typeface="Calibri" pitchFamily="34" charset="0"/>
                <a:ea typeface="Calibri" pitchFamily="34" charset="-122"/>
                <a:cs typeface="Calibri" pitchFamily="34" charset="-120"/>
              </a:rPr>
              <a:t>Transporte público</a:t>
            </a:r>
            <a:endParaRPr lang="en-US" sz="1300" dirty="0"/>
          </a:p>
          <a:p>
            <a:pPr marL="0" indent="0">
              <a:spcAft>
                <a:spcPts val="300"/>
              </a:spcAft>
              <a:buNone/>
            </a:pPr>
            <a:r>
              <a:rPr lang="en-US" sz="1200" dirty="0">
                <a:solidFill>
                  <a:srgbClr val="2B2B2B"/>
                </a:solidFill>
                <a:latin typeface="Calibri" pitchFamily="34" charset="0"/>
                <a:ea typeface="Calibri" pitchFamily="34" charset="-122"/>
                <a:cs typeface="Calibri" pitchFamily="34" charset="-120"/>
              </a:rPr>
              <a:t>Ómnibus diésel; su recorrido se registra por GPS.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5C3A21"/>
                </a:solidFill>
                <a:latin typeface="Georgia" pitchFamily="34" charset="0"/>
                <a:ea typeface="Georgia" pitchFamily="34" charset="-122"/>
                <a:cs typeface="Georgia" pitchFamily="34" charset="-120"/>
              </a:rPr>
              <a:t>Cómo se incorporarían al análisis</a:t>
            </a:r>
            <a:endParaRPr lang="en-US" sz="2800" dirty="0"/>
          </a:p>
        </p:txBody>
      </p:sp>
      <p:sp>
        <p:nvSpPr>
          <p:cNvPr id="3" name="Text 1"/>
          <p:cNvSpPr txBox="1"/>
          <p:nvPr/>
        </p:nvSpPr>
        <p:spPr>
          <a:xfrm>
            <a:off x="457200" y="1280160"/>
            <a:ext cx="11274552" cy="640080"/>
          </a:xfrm>
          <a:prstGeom prst="rect">
            <a:avLst/>
          </a:prstGeom>
          <a:noFill/>
          <a:ln/>
        </p:spPr>
        <p:txBody>
          <a:bodyPr wrap="square" lIns="0" tIns="0" rIns="0" bIns="0" rtlCol="0" anchor="ctr"/>
          <a:lstStyle/>
          <a:p>
            <a:pPr marL="0" indent="0">
              <a:buNone/>
            </a:pPr>
            <a:r>
              <a:rPr lang="en-US" sz="2200" dirty="0">
                <a:solidFill>
                  <a:srgbClr val="2E86AB"/>
                </a:solidFill>
                <a:latin typeface="Georgia" pitchFamily="34" charset="0"/>
                <a:ea typeface="Georgia" pitchFamily="34" charset="-122"/>
                <a:cs typeface="Georgia" pitchFamily="34" charset="-120"/>
              </a:rPr>
              <a:t>y(t) = h(t) + b·tránsito(t − k) + c·viento(t) + d·lluvia(t) + e·feriado(t) + error</a:t>
            </a:r>
            <a:endParaRPr lang="en-US" sz="2200" dirty="0"/>
          </a:p>
        </p:txBody>
      </p:sp>
      <p:sp>
        <p:nvSpPr>
          <p:cNvPr id="4" name="Text 2"/>
          <p:cNvSpPr txBox="1"/>
          <p:nvPr/>
        </p:nvSpPr>
        <p:spPr>
          <a:xfrm>
            <a:off x="457200" y="2194560"/>
            <a:ext cx="11274552" cy="4389120"/>
          </a:xfrm>
          <a:prstGeom prst="rect">
            <a:avLst/>
          </a:prstGeom>
          <a:noFill/>
          <a:ln/>
        </p:spPr>
        <p:txBody>
          <a:bodyPr wrap="square" lIns="0" tIns="0" rIns="0" bIns="0" rtlCol="0" anchor="t"/>
          <a:lstStyle/>
          <a:p>
            <a:pPr marL="0" indent="0">
              <a:spcAft>
                <a:spcPts val="300"/>
              </a:spcAft>
              <a:buNone/>
            </a:pPr>
            <a:r>
              <a:rPr lang="en-US" sz="1400" b="1" dirty="0">
                <a:solidFill>
                  <a:srgbClr val="2E86AB"/>
                </a:solidFill>
                <a:latin typeface="Calibri" pitchFamily="34" charset="0"/>
                <a:ea typeface="Calibri" pitchFamily="34" charset="-122"/>
                <a:cs typeface="Calibri" pitchFamily="34" charset="-120"/>
              </a:rPr>
              <a:t>Variables numéricas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Viento, lluvia, temperatura: una columna más, cada una con su coeficiente.</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Variables categóricas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Feriado sí o no, día de semana: se codifican con 0 y 1, como ya hicimos al separar semana y fin de semana.</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Varias estaciones a la vez</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Las mismas horas en distintos lugares: datos de panel y datos espaciales (unidad 7).</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Cambios puntuales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Un corte de calle, una obra, la parada de la refinería: comparar antes y después contra un lugar que no cambió es el método de diferencias en diferencias (unidad 8).</a:t>
            </a:r>
            <a:endParaRPr lang="en-US" sz="1400" dirty="0"/>
          </a:p>
          <a:p>
            <a:pPr marL="0" indent="0">
              <a:spcBef>
                <a:spcPts val="800"/>
              </a:spcBef>
              <a:spcAft>
                <a:spcPts val="300"/>
              </a:spcAft>
              <a:buNone/>
            </a:pPr>
            <a:r>
              <a:rPr lang="en-US" sz="1400" b="1" dirty="0">
                <a:solidFill>
                  <a:srgbClr val="2E86AB"/>
                </a:solidFill>
                <a:latin typeface="Calibri" pitchFamily="34" charset="0"/>
                <a:ea typeface="Calibri" pitchFamily="34" charset="-122"/>
                <a:cs typeface="Calibri" pitchFamily="34" charset="-120"/>
              </a:rPr>
              <a:t>Datos faltantes</a:t>
            </a:r>
            <a:endParaRPr lang="en-US" sz="1400" dirty="0"/>
          </a:p>
          <a:p>
            <a:pPr marL="0" indent="0">
              <a:spcAft>
                <a:spcPts val="300"/>
              </a:spcAft>
              <a:buNone/>
            </a:pPr>
            <a:r>
              <a:rPr lang="en-US" sz="1300" dirty="0">
                <a:solidFill>
                  <a:srgbClr val="2B2B2B"/>
                </a:solidFill>
                <a:latin typeface="Calibri" pitchFamily="34" charset="0"/>
                <a:ea typeface="Calibri" pitchFamily="34" charset="-122"/>
                <a:cs typeface="Calibri" pitchFamily="34" charset="-120"/>
              </a:rPr>
              <a:t>Cada variable nueva trae sus propios huecos: hay que decidir qué hacer con las horas sin dato.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C3A2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marL="0" indent="0">
              <a:buNone/>
            </a:pPr>
            <a:r>
              <a:rPr lang="en-US" sz="2800" dirty="0">
                <a:solidFill>
                  <a:srgbClr val="FFFFFF"/>
                </a:solidFill>
                <a:latin typeface="Georgia" pitchFamily="34" charset="0"/>
                <a:ea typeface="Georgia" pitchFamily="34" charset="-122"/>
                <a:cs typeface="Georgia" pitchFamily="34" charset="-120"/>
              </a:rPr>
              <a:t>Conclusiones</a:t>
            </a:r>
            <a:endParaRPr lang="en-US" sz="2800" dirty="0"/>
          </a:p>
        </p:txBody>
      </p:sp>
      <p:sp>
        <p:nvSpPr>
          <p:cNvPr id="3" name="Text 1"/>
          <p:cNvSpPr txBox="1"/>
          <p:nvPr/>
        </p:nvSpPr>
        <p:spPr>
          <a:xfrm>
            <a:off x="457200" y="1280160"/>
            <a:ext cx="11274552" cy="5120640"/>
          </a:xfrm>
          <a:prstGeom prst="rect">
            <a:avLst/>
          </a:prstGeom>
          <a:noFill/>
          <a:ln/>
        </p:spPr>
        <p:txBody>
          <a:bodyPr wrap="square" lIns="0" tIns="0" rIns="0" bIns="0" rtlCol="0" anchor="t"/>
          <a:lstStyle/>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El NO₂ responde al tránsito en 1 a 2 horas y la relación se apaga en pocas horas.</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El PM2.5 responde más tarde, alrededor de 13 horas: acumula el tránsito del día y muestra su pico de noche.</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Con solo la hora del día y el tránsito, sin otras variables, el modelo reproduce la mitad de la variación del NO₂ (R² = 0,50) y una quinta parte de la del PM2.5 (R² = 0,22).</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La relación se ve donde el tránsito está bien medido; donde hay pocos puntos de conteo no se distingue del azar.</a:t>
            </a:r>
            <a:endParaRPr lang="en-US" sz="1500" dirty="0"/>
          </a:p>
          <a:p>
            <a:pPr marL="0" indent="0">
              <a:spcBef>
                <a:spcPts val="800"/>
              </a:spcBef>
              <a:spcAft>
                <a:spcPts val="300"/>
              </a:spcAft>
              <a:buNone/>
            </a:pPr>
            <a:r>
              <a:rPr lang="en-US" sz="1600" b="1" dirty="0">
                <a:solidFill>
                  <a:srgbClr val="9ED8EE"/>
                </a:solidFill>
                <a:latin typeface="Calibri" pitchFamily="34" charset="0"/>
                <a:ea typeface="Calibri" pitchFamily="34" charset="-122"/>
                <a:cs typeface="Calibri" pitchFamily="34" charset="-120"/>
              </a:rPr>
              <a:t>Limitaciones</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Unos 12 días de NO₂ en una estación.</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No se separa el tránsito de las calles cercanas del de toda la ciudad.</a:t>
            </a:r>
            <a:endParaRPr lang="en-US" sz="1500" dirty="0"/>
          </a:p>
          <a:p>
            <a:pPr marL="177800" indent="-177800">
              <a:spcAft>
                <a:spcPts val="300"/>
              </a:spcAft>
              <a:buSzPct val="100000"/>
              <a:buChar char="•"/>
            </a:pPr>
            <a:r>
              <a:rPr lang="en-US" sz="1500" dirty="0">
                <a:solidFill>
                  <a:srgbClr val="F3E9DF"/>
                </a:solidFill>
                <a:latin typeface="Calibri" pitchFamily="34" charset="0"/>
                <a:ea typeface="Calibri" pitchFamily="34" charset="-122"/>
                <a:cs typeface="Calibri" pitchFamily="34" charset="-120"/>
              </a:rPr>
              <a:t>Faltan variables de tiempo meteorológico y otras fuentes.</a:t>
            </a:r>
            <a:endParaRPr lang="en-US" sz="1500" dirty="0"/>
          </a:p>
          <a:p>
            <a:pPr marL="0" indent="0">
              <a:spcBef>
                <a:spcPts val="800"/>
              </a:spcBef>
              <a:spcAft>
                <a:spcPts val="300"/>
              </a:spcAft>
              <a:buNone/>
            </a:pPr>
            <a:r>
              <a:rPr lang="en-US" sz="1500" i="1" dirty="0">
                <a:solidFill>
                  <a:srgbClr val="9ED8EE"/>
                </a:solidFill>
                <a:latin typeface="Calibri" pitchFamily="34" charset="0"/>
                <a:ea typeface="Calibri" pitchFamily="34" charset="-122"/>
                <a:cs typeface="Calibri" pitchFamily="34" charset="-120"/>
              </a:rPr>
              <a:t>Pregunta: ¿cuáles de las hipótesis que escribieron al principio se sostuvieron?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3551</Words>
  <Application>Microsoft Office PowerPoint</Application>
  <PresentationFormat>Panorámica</PresentationFormat>
  <Paragraphs>390</Paragraphs>
  <Slides>26</Slides>
  <Notes>26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Arial</vt:lpstr>
      <vt:lpstr>Calibri</vt:lpstr>
      <vt:lpstr>Courier New</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Montevideo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Tránsito y calidad del aire</dc:title>
  <dc:subject>Series de tiempo, correlación y regresión lineal</dc:subject>
  <dc:creator>Introducción a la Ciencia de Datos</dc:creator>
  <cp:lastModifiedBy>Joselina Davyt</cp:lastModifiedBy>
  <cp:revision>1</cp:revision>
  <dcterms:created xsi:type="dcterms:W3CDTF">2026-09-22T11:08:18Z</dcterms:created>
  <dcterms:modified xsi:type="dcterms:W3CDTF">2026-09-22T15:08:01Z</dcterms:modified>
</cp:coreProperties>
</file>