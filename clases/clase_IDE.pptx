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786063ee-9fda-18f4-0a47-c68aabf4c7ce}">
          <p14:sldIdLst>
            <p14:sldId id="256"/>
            <p14:sldId id="257"/>
          </p14:sldIdLst>
        </p14:section>
        <p14:section name="Qué es un lenguaje de programación" id="{4e722cf7-ad5e-fbb1-c2e2-d0056cfaf151}">
          <p14:sldIdLst>
            <p14:sldId id="258"/>
            <p14:sldId id="259"/>
            <p14:sldId id="260"/>
            <p14:sldId id="261"/>
          </p14:sldIdLst>
        </p14:section>
        <p14:section name="R y Python: características y usos" id="{18a93f0d-85d8-2e29-b267-cc31edbd15a4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Cuando los ingenieros entraron en la estadística" id="{3cd81c14-9548-8308-878c-f83d7b5e65ce}">
          <p14:sldIdLst>
            <p14:sldId id="270"/>
            <p14:sldId id="271"/>
            <p14:sldId id="272"/>
            <p14:sldId id="273"/>
          </p14:sldIdLst>
        </p14:section>
        <p14:section name="Qué es un IDE" id="{16af6b07-540f-c9f1-f6aa-ee5191ac145b}">
          <p14:sldIdLst>
            <p14:sldId id="274"/>
            <p14:sldId id="275"/>
            <p14:sldId id="276"/>
            <p14:sldId id="277"/>
          </p14:sldIdLst>
        </p14:section>
        <p14:section name="Las herramientas: instalación y configuración" id="{e4c3722a-0f2d-17f8-fc8f-587e138a17d4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Fuentes" id="{2e6af5a3-72a9-b544-b9b0-f3bbfd7cfb2e}">
          <p14:sldIdLst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Clase sobre las herramientas: qué es un lenguaje, qué es un IDE, cómo se instala y configura cada uno. Incluye la comparación R/Python y el contexto histórico.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Muchos errores del curso (archivo no encontrado, paquete inexistente) vienen de confundir estas tres piezas.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práctica ambos resuelven casi todo lo del curso. Suele decidir el equipo y el código existente, no una superioridad técnica general.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las culturas se mezclan. Yu y Barter (2024) proponen predictibilidad, computabilidad y estabilidad como marco común. La división R/Python refleja este origen doble, pero ya no lo reproduce exactamente.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curso usamos scripts con celdas.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ventana interactiva de VS Code es cómoda, pero en laptops con poca memoria cada kernel abierto pesa: con varios archivos abiertos se consume toda la 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D3E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9FB3D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28800"/>
            <a:ext cx="5486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Introducción a la Ciencia de Datos · Universidad de Montevideo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Lenguajes, intérpretes y entornos de trabajo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3"/>
                </a:solidFill>
              </a:rPr>
              <a:t>RStudio, Spyder, Anaconda y Visual Studio Code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3E3"/>
                </a:solidFill>
              </a:rPr>
              <a:t>Introducción a la Ciencia de Datos · Universidad de Montevideo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720840" y="822960"/>
            <a:ext cx="1051560" cy="105156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2183" y="1054303"/>
            <a:ext cx="588874" cy="5888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874520"/>
            <a:ext cx="914400" cy="91440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68" y="2075688"/>
            <a:ext cx="512064" cy="5120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37960" y="2240280"/>
            <a:ext cx="868680" cy="86868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070" y="2431390"/>
            <a:ext cx="486461" cy="48646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269480" y="3200400"/>
            <a:ext cx="822960" cy="822960"/>
          </a:xfrm>
          <a:prstGeom prst="ellipse">
            <a:avLst/>
          </a:prstGeom>
          <a:solidFill>
            <a:srgbClr val="7652B8"/>
          </a:solidFill>
          <a:ln w="12700">
            <a:solidFill>
              <a:srgbClr val="7652B8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531" y="3381451"/>
            <a:ext cx="460858" cy="4608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Tres piezas distintas que solemos confundir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25880" y="1143000"/>
            <a:ext cx="914400" cy="91440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1344168"/>
            <a:ext cx="512064" cy="5120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14600" y="1600200"/>
            <a:ext cx="1371600" cy="0"/>
          </a:xfrm>
          <a:prstGeom prst="line">
            <a:avLst/>
          </a:prstGeom>
          <a:noFill/>
          <a:ln w="19050">
            <a:solidFill>
              <a:srgbClr val="AEB6C2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54864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Lenguaje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06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 reglas para escribir instrucciones.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76DC3"/>
                </a:solidFill>
              </a:rPr>
              <a:t>R, Python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Analogía: un idioma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60520" y="1143000"/>
            <a:ext cx="914400" cy="91440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344168"/>
            <a:ext cx="512064" cy="51206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349240" y="1600200"/>
            <a:ext cx="1371600" cy="0"/>
          </a:xfrm>
          <a:prstGeom prst="line">
            <a:avLst/>
          </a:prstGeom>
          <a:noFill/>
          <a:ln w="19050">
            <a:solidFill>
              <a:srgbClr val="AEB6C2"/>
            </a:solidFill>
            <a:prstDash val="solid"/>
            <a:tailEnd type="triangle"/>
          </a:ln>
        </p:spPr>
      </p:sp>
      <p:sp>
        <p:nvSpPr>
          <p:cNvPr id="13" name="Text 9"/>
          <p:cNvSpPr txBox="1"/>
          <p:nvPr/>
        </p:nvSpPr>
        <p:spPr>
          <a:xfrm>
            <a:off x="338328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Intérprete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383280" y="2606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programa que lee y ejecuta esas instrucciones.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38328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9A00"/>
                </a:solidFill>
              </a:rPr>
              <a:t>R de CRAN, Python de Anaconda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38328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Analogía: quien entiende el idioma y hace lo pedido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995160" y="1143000"/>
            <a:ext cx="914400" cy="91440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134416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1792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2606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programa donde escribimos, ejecutamos y revisamos.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A8C7E"/>
                </a:solidFill>
              </a:rPr>
              <a:t>RStudio, Spyder, VS Code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Analogía: la oficina donde se escriben las instrucciones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</a:rPr>
              <a:t>01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288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Qué es un lenguaje de programación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Lenguaje de programación: sintaxis y semántica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Definición. </a:t>
            </a:r>
            <a:r>
              <a:rPr lang="en-US" sz="1600" dirty="0">
                <a:solidFill>
                  <a:schemeClr val="tx1"/>
                </a:solidFill>
              </a:rPr>
              <a:t>Un lenguaje de programación es un sistema formal de notación para escribir instrucciones que una computadora puede ejecutar.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Sintaxis: </a:t>
            </a:r>
            <a:r>
              <a:rPr lang="en-US" sz="1500" dirty="0">
                <a:solidFill>
                  <a:schemeClr val="tx1"/>
                </a:solidFill>
              </a:rPr>
              <a:t>qué combinaciones de símbolos son válidas.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Semántica: </a:t>
            </a:r>
            <a:r>
              <a:rPr lang="en-US" sz="1500" dirty="0">
                <a:solidFill>
                  <a:schemeClr val="tx1"/>
                </a:solidFill>
              </a:rPr>
              <a:t>qué hace la computadora con cada instrucción válida.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 lenguaje es una especificación. Para que algo ocurra hace falta un programa que lo ejecute.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La misma idea, dos sintaxis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2148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6DC3"/>
                </a:solidFill>
              </a:rPr>
              <a:t>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2377440"/>
            <a:ext cx="4114800" cy="77724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24688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 &gt; 0)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print("positivo")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32918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9A00"/>
                </a:solidFill>
              </a:rPr>
              <a:t>Python: la sangría es obligatoria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3520440"/>
            <a:ext cx="4114800" cy="59436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3611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&gt; 0: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print("positivo")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Compilador e intérprete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Compilador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Traduce todo el programa a código de máquina y después se ejecuta. Ejemplos: C, Fortran.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640080" cy="64008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2472538"/>
            <a:ext cx="358445" cy="35844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80160" y="2651760"/>
            <a:ext cx="50292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1828800" y="2331720"/>
            <a:ext cx="640080" cy="64008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618" y="2472538"/>
            <a:ext cx="358445" cy="35844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560320" y="2651760"/>
            <a:ext cx="50292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3108960" y="2331720"/>
            <a:ext cx="640080" cy="64008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778" y="2472538"/>
            <a:ext cx="358445" cy="35844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2004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programa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60020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compilar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288036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ejecutable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Intérprete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1508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Lee y ejecuta las instrucciones una a una. Ejemplos: R, Python.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846320" y="2286000"/>
            <a:ext cx="3840480" cy="86868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983480" y="23774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x &lt;- c(3, 5, 10)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mean(x)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6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3611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Consecuencia práctica. </a:t>
            </a:r>
            <a:r>
              <a:rPr lang="en-US" sz="1500" dirty="0">
                <a:solidFill>
                  <a:schemeClr val="tx1"/>
                </a:solidFill>
              </a:rPr>
              <a:t>Cuando decimos «instalar R» o «instalar Python» estamos instalando el intérprete: el programa que entiende y ejecuta ese lenguaje.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Script, paquete y biblioteca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12618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6D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82880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instrucciones en R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45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1560" y="19476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9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.py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8288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instrucciones en Python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0"/>
            <a:ext cx="502920" cy="5029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51560" y="26334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65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.ipynb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82880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notebook de Jupyter (JSON con código, texto y resultados)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457200" y="3291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Un script es un archivo de texto plano: se puede abrir con el Bloc de notas.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4572000" y="11887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Paquete (R) o biblioteca (Python): </a:t>
            </a:r>
            <a:r>
              <a:rPr lang="en-US" sz="1400" dirty="0">
                <a:solidFill>
                  <a:schemeClr val="tx1"/>
                </a:solidFill>
              </a:rPr>
              <a:t>funciones escritas por otros que se agregan al lenguaje base. Se instalan en un intérprete concreto.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663440" y="233172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1F3F6"/>
          </a:solidFill>
          <a:ln w="19050">
            <a:solidFill>
              <a:srgbClr val="2A8C7E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663440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Python A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66344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8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 ✓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720840" y="233172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1F3F6"/>
          </a:solidFill>
          <a:ln w="19050">
            <a:solidFill>
              <a:srgbClr val="C2453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720840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Python B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72084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4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 ✗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0" y="3703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Dos instalaciones de Python en la misma computadora: lo instalado en una no existe en la otra.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</a:rPr>
              <a:t>02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288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 y Python: características y usos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R: un lenguaje creado para la estadística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8046720" cy="0"/>
          </a:xfrm>
          <a:prstGeom prst="line">
            <a:avLst/>
          </a:prstGeom>
          <a:noFill/>
          <a:ln w="25400">
            <a:solidFill>
              <a:srgbClr val="C9CF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508760"/>
            <a:ext cx="182880" cy="182880"/>
          </a:xfrm>
          <a:prstGeom prst="ellipse">
            <a:avLst/>
          </a:prstGeom>
          <a:solidFill>
            <a:srgbClr val="276DC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61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6D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Lenguaje S en Bell Labs (John Chambers y colegas)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508760"/>
            <a:ext cx="182880" cy="182880"/>
          </a:xfrm>
          <a:prstGeom prst="ellipse">
            <a:avLst/>
          </a:prstGeom>
          <a:solidFill>
            <a:srgbClr val="276DC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161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6D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R, de Ross Ihaka y Robert Gentleman (Universidad de Auckland)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1508760"/>
            <a:ext cx="182880" cy="182880"/>
          </a:xfrm>
          <a:prstGeom prst="ellipse">
            <a:avLst/>
          </a:prstGeom>
          <a:solidFill>
            <a:srgbClr val="276DC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161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6D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 publica R 1.0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1508760"/>
            <a:ext cx="182880" cy="182880"/>
          </a:xfrm>
          <a:prstGeom prst="ellipse">
            <a:avLst/>
          </a:prstGeom>
          <a:solidFill>
            <a:srgbClr val="276DC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1161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6D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Más de 20 000 paquetes en CRAN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78892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tabla de datos (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data.frame</a:t>
            </a:r>
            <a:r>
              <a:rPr lang="en-US" sz="1400" dirty="0">
                <a:solidFill>
                  <a:schemeClr val="tx1"/>
                </a:solidFill>
              </a:rPr>
              <a:t>) es nativa.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 faltantes (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</a:t>
            </a:r>
            <a:r>
              <a:rPr lang="en-US" sz="1400" dirty="0">
                <a:solidFill>
                  <a:schemeClr val="tx1"/>
                </a:solidFill>
              </a:rPr>
              <a:t>) son nativos.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Vectorizado: x + 1 suma 1 a cada elemento.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78892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 índices empiezan en 1.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Fórmulas para modelos: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~ x1 + x2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Fuerte en inferencia, gráficos (ggplot2) e informes reproducibles.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Python: un lenguaje de propósito general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8046720" cy="0"/>
          </a:xfrm>
          <a:prstGeom prst="line">
            <a:avLst/>
          </a:prstGeom>
          <a:noFill/>
          <a:ln w="25400">
            <a:solidFill>
              <a:srgbClr val="C9CF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508760"/>
            <a:ext cx="182880" cy="182880"/>
          </a:xfrm>
          <a:prstGeom prst="ellipse">
            <a:avLst/>
          </a:prstGeom>
          <a:solidFill>
            <a:srgbClr val="D99A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61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9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Guido van Rossum publica Python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508760"/>
            <a:ext cx="182880" cy="182880"/>
          </a:xfrm>
          <a:prstGeom prst="ellipse">
            <a:avLst/>
          </a:prstGeom>
          <a:solidFill>
            <a:srgbClr val="D99A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161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9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NumPy: arreglos numéricos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1508760"/>
            <a:ext cx="182880" cy="182880"/>
          </a:xfrm>
          <a:prstGeom prst="ellipse">
            <a:avLst/>
          </a:prstGeom>
          <a:solidFill>
            <a:srgbClr val="D99A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161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9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2008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pandas: tablas de datos (Wes McKinney)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1508760"/>
            <a:ext cx="182880" cy="182880"/>
          </a:xfrm>
          <a:prstGeom prst="ellipse">
            <a:avLst/>
          </a:prstGeom>
          <a:solidFill>
            <a:srgbClr val="D99A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1161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9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2010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scikit-learn: aprendizaje automático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78892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Propósito general: web, automatización, sistemas, datos.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sangría es parte de la sintaxis.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 índices empiezan en 0.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78892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Las tablas no son nativas: vienen de pandas.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Orientado a objetos: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r>
              <a:rPr lang="en-US" sz="1400" dirty="0">
                <a:solidFill>
                  <a:schemeClr val="tx1"/>
                </a:solidFill>
              </a:rPr>
              <a:t> aplica el método head al objeto df.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PyPI: cientos de miles de bibliotecas, de calidad heterogénea.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La misma tarea en los dos lenguajes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Leer un archivo, quitar faltantes y calcular el promedio de una columna.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57200" cy="45720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3977640" cy="146304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24028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&lt;- read.csv("ventas.csv")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mean(datos$monto, na.rm = TRUE)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nrow(datos)     # filas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554480"/>
            <a:ext cx="457200" cy="45720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2148840"/>
            <a:ext cx="3977640" cy="146304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24028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= pd.read_csv("ventas.csv")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datos["monto"].mean()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len(datos)      # filas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 R la tabla y los faltantes son parte del lenguaje. En Python hay que importar pandas, y mean() ignora los faltantes por defecto.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Comparación entre R y Python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lenguaje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Específico para estadística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 general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de datos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Nativa (data.frame)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Biblioteca (pandas)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Nativos (NA)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Según la biblioteca (NaN, None, pd.NA)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 índice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Repositorio de paquetes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PyPI, conda-forge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 más usado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RStudio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Code, Spyder, Jupyter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Comunidad de origen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Programación e ingeniería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Cuándo conviene uno u otro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56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preferible R cuando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trabajo es sobre todo análisis estadístico: modelos, pruebas, panel, supervivencia, encuestas.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 necesita un método específico o reciente, que suele aparecer antes en CRAN.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producto final es un informe o un artículo.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entorno es académico, de salud o de economía.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548640" cy="54864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</a:t>
            </a:r>
            <a:endParaRPr lang="en-US" sz="156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preferible Python cuando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828800"/>
            <a:ext cx="3977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análisis es parte de un sistema mayor (una aplicación, una base de datos).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foco es la predicción con aprendizaje automático.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 datos son texto, imágenes o vienen de APIs.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equipo ya programa en Python.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Otros lenguajes y programas para analizar datos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286000"/>
                <a:gridCol w="109728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típico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MATLAB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1984, MathWorks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Ingeniería: cálculo con matrices, señales,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GNU Octave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Década de 1990, proyecto GNU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 compatible con buena parte de MATLAB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 científico de alto rendimiento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1976, SAS Institute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 farmacéutica, banca, seguros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1985, StataCorp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Econometría, epidemiología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Ciencias sociales; se usa mucho por menús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1974, IBM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Estándar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Consultar y combinar tablas en bases de datos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Las hojas de cálculo (Excel) también sirven para analizar datos, pero no dejan un registro de los pasos que permita repetir el análisis.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Lenguajes de matrices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MATLAB </a:t>
            </a:r>
            <a:r>
              <a:rPr lang="en-US" sz="1500" dirty="0">
                <a:solidFill>
                  <a:schemeClr val="tx1"/>
                </a:solidFill>
              </a:rPr>
              <a:t>(MATrix LABoratory) nació para el cálculo con matrices: en MATLAB todo objeto es una matriz. R trabaja con vectores y matrices de forma nativa, y Python incorporó esta forma de trabajo con NumPy.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Producto de una matriz por sí misma: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411480" cy="41148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</a:t>
            </a:r>
            <a:endParaRPr lang="en-US" sz="117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MATLAB / Octave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2651760" cy="91440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880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 2; 3 4];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* 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286000"/>
            <a:ext cx="411480" cy="41148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4612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17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6120" y="2788920"/>
            <a:ext cx="2651760" cy="91440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2880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&lt;- matrix(c(1, 2, 3, 4),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nrow = 2, byrow = TRUE)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%*% 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286000"/>
            <a:ext cx="411480" cy="41148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</a:t>
            </a:r>
            <a:endParaRPr lang="en-US" sz="117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Python (NumPy)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2788920"/>
            <a:ext cx="2651760" cy="91440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2880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np.array([[1, 2],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[3, 4]])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@ 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 los tres casos el resultado es la matriz [7 10; 15 22]. Cambia la notación del producto: *, %*% y @.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</a:rPr>
              <a:t>03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288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Cuando los ingenieros entraron en la estadística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Dos tradiciones en el análisis de datos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8046720" cy="0"/>
          </a:xfrm>
          <a:prstGeom prst="line">
            <a:avLst/>
          </a:prstGeom>
          <a:noFill/>
          <a:ln w="25400">
            <a:solidFill>
              <a:srgbClr val="C9CF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1872" y="1600200"/>
            <a:ext cx="182880" cy="182880"/>
          </a:xfrm>
          <a:prstGeom prst="ellipse">
            <a:avLst/>
          </a:prstGeom>
          <a:solidFill>
            <a:srgbClr val="7652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8912" y="1252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65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Tukey: el análisis de datos es más amplio que la estadística matemática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71216" y="1600200"/>
            <a:ext cx="182880" cy="182880"/>
          </a:xfrm>
          <a:prstGeom prst="ellipse">
            <a:avLst/>
          </a:prstGeom>
          <a:solidFill>
            <a:srgbClr val="7652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48256" y="1252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65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1980-90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203704" y="187452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Ingenieros e informáticos: reconocimiento de patrones y aprendizaje automático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600200"/>
            <a:ext cx="182880" cy="182880"/>
          </a:xfrm>
          <a:prstGeom prst="ellipse">
            <a:avLst/>
          </a:prstGeom>
          <a:solidFill>
            <a:srgbClr val="7652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1252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65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813048" y="187452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Breiman describe «dos culturas» del modelado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9904" y="1600200"/>
            <a:ext cx="182880" cy="182880"/>
          </a:xfrm>
          <a:prstGeom prst="ellipse">
            <a:avLst/>
          </a:prstGeom>
          <a:solidFill>
            <a:srgbClr val="7652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66944" y="1252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65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2010s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22392" y="187452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 populariza el nombre «ciencia de datos»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99248" y="1600200"/>
            <a:ext cx="182880" cy="182880"/>
          </a:xfrm>
          <a:prstGeom prst="ellipse">
            <a:avLst/>
          </a:prstGeom>
          <a:solidFill>
            <a:srgbClr val="7652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76288" y="1252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65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031736" y="187452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Donoho: 50 años de ciencia de datos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108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Objetivo de la tradición estadística: </a:t>
            </a:r>
            <a:r>
              <a:rPr lang="en-US" sz="1500" dirty="0">
                <a:solidFill>
                  <a:schemeClr val="tx1"/>
                </a:solidFill>
              </a:rPr>
              <a:t>explicar el mecanismo que generó los datos y cuantificar la incertidumbre.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Objetivo de la tradición ingenieril: </a:t>
            </a:r>
            <a:r>
              <a:rPr lang="en-US" sz="1500" dirty="0">
                <a:solidFill>
                  <a:schemeClr val="tx1"/>
                </a:solidFill>
              </a:rPr>
              <a:t>predecir bien en datos nuevos, aunque el mecanismo quede sin explicar.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Las dos culturas según Breiman (2001)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 naturaleza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331720" y="1325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flipH="1">
            <a:off x="2697480" y="1554480"/>
            <a:ext cx="3657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108960" y="1188720"/>
            <a:ext cx="1554480" cy="731520"/>
          </a:xfrm>
          <a:prstGeom prst="rect">
            <a:avLst/>
          </a:prstGeom>
          <a:solidFill>
            <a:srgbClr val="1F293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08960" y="1188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naturaleza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flipH="1">
            <a:off x="4709160" y="1554480"/>
            <a:ext cx="3657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074920" y="1325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280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mecanismo real que transforma x en y.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Modelado de datos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 flipH="1">
            <a:off x="2697480" y="2651760"/>
            <a:ext cx="3657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108960" y="2286000"/>
            <a:ext cx="15544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276DC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0896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6DC3"/>
                </a:solidFill>
              </a:rPr>
              <a:t>regresión lineal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76DC3"/>
                </a:solidFill>
              </a:rPr>
              <a:t>logística, Cox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H="1">
            <a:off x="4709160" y="2651760"/>
            <a:ext cx="3657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074920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Supone un modelo estocástico y estima sus parámetros.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Modelado algorítmico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331720" y="3520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 flipH="1">
            <a:off x="2697480" y="3749040"/>
            <a:ext cx="3657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108960" y="3383280"/>
            <a:ext cx="15544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9A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108960" y="33832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9A00"/>
                </a:solidFill>
              </a:rPr>
              <a:t>desconocido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flipH="1">
            <a:off x="4709160" y="3749040"/>
            <a:ext cx="3657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074920" y="3520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Busca un algoritmo que prediga bien y lo evalúa en datos nuevos.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Diagrama adaptado de Breiman, L. (2001). Statistical modeling: The two cultures. Statistical Science, 16(3).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Qué cambió y qué quedó en tensión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A8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aportó la ingeniería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11480" cy="41148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726" y="1690726"/>
            <a:ext cx="230429" cy="23042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16184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Escala: millones de filas y miles de variables.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411480" cy="41148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26" y="2376526"/>
            <a:ext cx="230429" cy="23042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5840" y="23042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Prácticas de software: versiones, pruebas, código reutilizable.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971800"/>
            <a:ext cx="411480" cy="41148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26" y="3062326"/>
            <a:ext cx="230429" cy="23042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05840" y="29900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Validación por predicción en datos de prueba.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657600"/>
            <a:ext cx="411480" cy="41148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26" y="3748126"/>
            <a:ext cx="230429" cy="230429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05840" y="36758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Python como lenguaje del análisis (NumPy, pandas, scikit-learn).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la estadística sigue señalando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4754880" y="1600200"/>
            <a:ext cx="411480" cy="41148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406" y="1690726"/>
            <a:ext cx="230429" cy="230429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03520" y="16184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Explicar no es predecir (Shmueli, 2010).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4754880" y="2286000"/>
            <a:ext cx="411480" cy="41148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5406" y="2376526"/>
            <a:ext cx="230429" cy="230429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303520" y="23042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Más datos no compensan un sesgo de selección (Meng, 2018).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4754880" y="2971800"/>
            <a:ext cx="411480" cy="41148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5406" y="3062326"/>
            <a:ext cx="230429" cy="230429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5303520" y="29900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Una predicción sin margen de error está incompleta.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4754880" y="3657600"/>
            <a:ext cx="411480" cy="41148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5406" y="3748126"/>
            <a:ext cx="230429" cy="230429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5303520" y="36758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Predecir quién compra no dice qué pasa si cambia el precio.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</a:rPr>
              <a:t>04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288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Qué es un IDE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IDE: entorno de desarrollo integrado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Definición. </a:t>
            </a:r>
            <a:r>
              <a:rPr lang="en-US" sz="1500" dirty="0">
                <a:solidFill>
                  <a:schemeClr val="tx1"/>
                </a:solidFill>
              </a:rPr>
              <a:t>Un IDE (Integrated Development Environment) es un programa que reúne en una sola ventana las herramientas para escribir, ejecutar y revisar código.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548640" cy="54864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20866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984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Editor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22585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escribir y guardar scripts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0" y="1965960"/>
            <a:ext cx="548640" cy="54864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021" y="208666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18688" y="1984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Consola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218688" y="22585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ejecutar y ver resultados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663440" y="1965960"/>
            <a:ext cx="548640" cy="54864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141" y="208666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21808" y="1984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Variables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321808" y="22585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objetos en memoria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766560" y="1965960"/>
            <a:ext cx="548640" cy="548640"/>
          </a:xfrm>
          <a:prstGeom prst="ellipse">
            <a:avLst/>
          </a:prstGeom>
          <a:solidFill>
            <a:srgbClr val="7652B8"/>
          </a:solidFill>
          <a:ln w="12700">
            <a:solidFill>
              <a:srgbClr val="7652B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261" y="208666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24928" y="1984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Archivos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7424928" y="22585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la carpeta de trabajo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3200400"/>
            <a:ext cx="548640" cy="54864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1" y="3321101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15568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Gráficos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1115568" y="34930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visor de figuras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2560320" y="3200400"/>
            <a:ext cx="548640" cy="54864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1021" y="3321101"/>
            <a:ext cx="307238" cy="30723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218688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Ayuda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3218688" y="34930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documentación de funciones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663440" y="3200400"/>
            <a:ext cx="548640" cy="54864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4141" y="3321101"/>
            <a:ext cx="307238" cy="30723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321808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Depurador</a:t>
            </a:r>
            <a:endParaRPr lang="en-US" sz="1400" dirty="0"/>
          </a:p>
        </p:txBody>
      </p:sp>
      <p:sp>
        <p:nvSpPr>
          <p:cNvPr id="31" name="Text 22"/>
          <p:cNvSpPr txBox="1"/>
          <p:nvPr/>
        </p:nvSpPr>
        <p:spPr>
          <a:xfrm>
            <a:off x="5321808" y="34930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ejecutar paso a paso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766560" y="3200400"/>
            <a:ext cx="548640" cy="548640"/>
          </a:xfrm>
          <a:prstGeom prst="ellipse">
            <a:avLst/>
          </a:prstGeom>
          <a:solidFill>
            <a:srgbClr val="7652B8"/>
          </a:solidFill>
          <a:ln w="12700">
            <a:solidFill>
              <a:srgbClr val="7652B8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7261" y="3321101"/>
            <a:ext cx="307238" cy="307238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7424928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Versiones</a:t>
            </a:r>
            <a:endParaRPr lang="en-US" sz="1400" dirty="0"/>
          </a:p>
        </p:txBody>
      </p:sp>
      <p:sp>
        <p:nvSpPr>
          <p:cNvPr id="35" name="Text 25"/>
          <p:cNvSpPr txBox="1"/>
          <p:nvPr/>
        </p:nvSpPr>
        <p:spPr>
          <a:xfrm>
            <a:off x="7424928" y="34930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Git integrado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El IDE no es el lenguaje ni el intérprete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Pieza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Intérprete (lo que ejecuta)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de CRAN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de python.org, de Anaconda o del instalador de Spyder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 (donde se escribe)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RStudio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Spyder, VS 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063240"/>
            <a:ext cx="457200" cy="45720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163824"/>
            <a:ext cx="256032" cy="25603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97280" y="301752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RStudio sin R instalado abre, pero no tiene qué ejecutar.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VS Code sin Python permite escribir un .py, pero no ejecutarlo.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mismo script funciona igual en Spyder, VS Code o la terminal si el intérprete y los paquetes son los mismos.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Directorio de trabajo y rutas relativas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Una ruta relativa se completa a partir del directorio de trabajo del intérprete.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proyecto/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488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datos/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651760"/>
            <a:ext cx="365760" cy="3657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82880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ventas.csv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15468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1732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analisis.py</a:t>
            </a:r>
            <a:endParaRPr lang="en-US" sz="1400" dirty="0"/>
          </a:p>
        </p:txBody>
      </p:sp>
      <p:sp>
        <p:nvSpPr>
          <p:cNvPr id="12" name="Shape 6"/>
          <p:cNvSpPr/>
          <p:nvPr/>
        </p:nvSpPr>
        <p:spPr>
          <a:xfrm>
            <a:off x="3657600" y="1600200"/>
            <a:ext cx="5029200" cy="41148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3794760" y="16916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pd.read_csv("datos/ventas.csv")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3657600" y="2286000"/>
            <a:ext cx="384048" cy="384048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2091" y="2370491"/>
            <a:ext cx="215067" cy="215067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160520" y="226771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Directorio de trabajo: 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C:\...\proyecto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 busca proyecto\datos\ventas.csv: existe.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3657600" y="3063240"/>
            <a:ext cx="384048" cy="384048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2091" y="3147731"/>
            <a:ext cx="215067" cy="215067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160520" y="30449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Directorio de trabajo: 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C:\Users\ana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 busca C:\Users\ana\datos\ventas.csv: FileNotFoundError.</a:t>
            </a:r>
            <a:endParaRPr lang="en-US" sz="1300" dirty="0"/>
          </a:p>
        </p:txBody>
      </p:sp>
      <p:sp>
        <p:nvSpPr>
          <p:cNvPr id="20" name="Text 12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Cada IDE fija el directorio de trabajo de un modo distinto. Para cada uno veremos cómo hacerlo.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</a:rPr>
              <a:t>05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288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Las herramientas: instalación y configuración</a:t>
            </a:r>
            <a:endParaRPr lang="en-US" sz="3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Anaconda: una distribución, no un 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937760" cy="3291840"/>
          </a:xfrm>
          <a:prstGeom prst="roundRect">
            <a:avLst>
              <a:gd name="adj" fmla="val 3333"/>
            </a:avLst>
          </a:prstGeom>
          <a:solidFill>
            <a:srgbClr val="F1F3F6"/>
          </a:solidFill>
          <a:ln w="19050">
            <a:solidFill>
              <a:srgbClr val="2A8C7E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8C7E"/>
                </a:solidFill>
              </a:rPr>
              <a:t>Anaconda Distribution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7922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737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Intérprete de Python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2350008"/>
            <a:ext cx="457200" cy="45720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45059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3957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Cientos de bibliotecas: pandas, numpy, matplotlib…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85800" y="3008376"/>
            <a:ext cx="457200" cy="45720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10896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0540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conda: gestor de paquetes y de entornos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85800" y="3666744"/>
            <a:ext cx="457200" cy="45720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767328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80160" y="37124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Anaconda Navigator: lanzador de aplicaciones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 flipV="1">
            <a:off x="5394960" y="1828800"/>
            <a:ext cx="640080" cy="96012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2"/>
          <p:cNvSpPr/>
          <p:nvPr/>
        </p:nvSpPr>
        <p:spPr>
          <a:xfrm>
            <a:off x="5394960" y="2788920"/>
            <a:ext cx="640080" cy="41148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3"/>
          <p:cNvSpPr/>
          <p:nvPr/>
        </p:nvSpPr>
        <p:spPr>
          <a:xfrm>
            <a:off x="6126480" y="1508760"/>
            <a:ext cx="594360" cy="59436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12648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</a:t>
            </a:r>
            <a:endParaRPr lang="en-US" sz="1690" dirty="0"/>
          </a:p>
        </p:txBody>
      </p:sp>
      <p:sp>
        <p:nvSpPr>
          <p:cNvPr id="21" name="Text 15"/>
          <p:cNvSpPr txBox="1"/>
          <p:nvPr/>
        </p:nvSpPr>
        <p:spPr>
          <a:xfrm>
            <a:off x="681228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Spyder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6126480" y="2926080"/>
            <a:ext cx="594360" cy="594360"/>
          </a:xfrm>
          <a:prstGeom prst="ellipse">
            <a:avLst/>
          </a:prstGeom>
          <a:solidFill>
            <a:srgbClr val="7652B8"/>
          </a:solidFill>
          <a:ln w="12700">
            <a:solidFill>
              <a:srgbClr val="7652B8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239" y="3056839"/>
            <a:ext cx="332842" cy="33284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81228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Jupyter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5760720" y="3657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Entorno: una instalación de Python aislada, con sus propios paquetes. Al instalar se crea el entorno base.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Instalar Anaconda en Windows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" cy="41148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Descargar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anaconda.com/download. Se puede omitir el registro (Skip registration).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11480" cy="41148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084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Ejecutar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377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Abrir el instalador y aceptar la licencia.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999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Just Me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291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Instalar solo para el usuario: no requiere permisos de administrador.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411480" cy="41148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Ruta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1463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 el usuario tiene espacios, tildes o ñ, instalar en C:\anaconda3.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103120"/>
            <a:ext cx="411480" cy="41148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2084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PATH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2377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marcar «Add Anaconda to my PATH».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3017520"/>
            <a:ext cx="411480" cy="41148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2999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Verificar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3291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 Anaconda Prompt: python --version y conda list pandas.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Requiere al menos 5 GB. Desde junio de 2026 Anaconda no publica paquetes nuevos para Windows 10. Gratis para uso individual y organizaciones de menos de 200 empleados.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RStudio: el IDE de 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84632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AEB6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5488" y="1115568"/>
            <a:ext cx="4809744" cy="237744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79576"/>
            <a:ext cx="91440" cy="91440"/>
          </a:xfrm>
          <a:prstGeom prst="ellipse">
            <a:avLst/>
          </a:prstGeom>
          <a:solidFill>
            <a:srgbClr val="E06C5F"/>
          </a:solidFill>
          <a:ln w="12700">
            <a:solidFill>
              <a:srgbClr val="E06C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179576"/>
            <a:ext cx="91440" cy="91440"/>
          </a:xfrm>
          <a:prstGeom prst="ellipse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179576"/>
            <a:ext cx="91440" cy="91440"/>
          </a:xfrm>
          <a:prstGeom prst="ellipse">
            <a:avLst/>
          </a:prstGeom>
          <a:solidFill>
            <a:srgbClr val="6CBF6A"/>
          </a:solidFill>
          <a:ln w="12700">
            <a:solidFill>
              <a:srgbClr val="6CBF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1124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RStudio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23317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463040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Editor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1709928"/>
            <a:ext cx="21854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&lt;- read.csv(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"ventas.csv")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summary(datos)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2331720" cy="1463040"/>
          </a:xfrm>
          <a:prstGeom prst="rect">
            <a:avLst/>
          </a:prstGeom>
          <a:solidFill>
            <a:srgbClr val="FBFBFC"/>
          </a:solidFill>
          <a:ln w="9525">
            <a:solidFill>
              <a:srgbClr val="C9CF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2971800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Consola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218688"/>
            <a:ext cx="21854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summary(datos)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monto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Min.  :  12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1417320"/>
            <a:ext cx="2286000" cy="1463040"/>
          </a:xfrm>
          <a:prstGeom prst="rect">
            <a:avLst/>
          </a:prstGeom>
          <a:solidFill>
            <a:srgbClr val="FBFBFC"/>
          </a:solidFill>
          <a:ln w="9525">
            <a:solidFill>
              <a:srgbClr val="C9CF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99232" y="1463040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Environment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999232" y="1709928"/>
            <a:ext cx="21396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 120 obs.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2926080"/>
            <a:ext cx="22860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99232" y="2971800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Files · Plots · Help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3337560"/>
            <a:ext cx="777240" cy="77724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669280" y="1188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Desarrollado por Posit (antes RStudio, PBC). Gratuito y de código abierto.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0" y="201168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Arriba a la izquierda: el script.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Abajo a la izquierda: R ejecuta y responde.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Arriba a la derecha: los objetos en memoria.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Abajo a la derecha: archivos, gráficos, paquetes y ayuda.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Instalar y configurar RStudio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05840" y="1143000"/>
            <a:ext cx="731520" cy="73152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774" y="1303934"/>
            <a:ext cx="409651" cy="40965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74520" y="1508760"/>
            <a:ext cx="1097280" cy="0"/>
          </a:xfrm>
          <a:prstGeom prst="line">
            <a:avLst/>
          </a:prstGeom>
          <a:noFill/>
          <a:ln w="15875">
            <a:solidFill>
              <a:srgbClr val="C9CFD8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457200" y="2011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1. Instalar 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3774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cran.r-project.org → Download R for Windows → base. En Mac: arm64 (Apple M) o x86_64 (Intel).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08960" y="1143000"/>
            <a:ext cx="731520" cy="73152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894" y="1303934"/>
            <a:ext cx="409651" cy="40965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977640" y="1508760"/>
            <a:ext cx="1097280" cy="0"/>
          </a:xfrm>
          <a:prstGeom prst="line">
            <a:avLst/>
          </a:prstGeom>
          <a:noFill/>
          <a:ln w="15875">
            <a:solidFill>
              <a:srgbClr val="C9CFD8"/>
            </a:solidFill>
            <a:prstDash val="solid"/>
            <a:tailEnd type="triangle"/>
          </a:ln>
        </p:spPr>
      </p:sp>
      <p:sp>
        <p:nvSpPr>
          <p:cNvPr id="11" name="Text 7"/>
          <p:cNvSpPr txBox="1"/>
          <p:nvPr/>
        </p:nvSpPr>
        <p:spPr>
          <a:xfrm>
            <a:off x="2560320" y="2011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2. Instalar RStudio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560320" y="23774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posit.co/download/rstudio-desktop. Detecta R automáticamente.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212080" y="1143000"/>
            <a:ext cx="731520" cy="73152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014" y="1303934"/>
            <a:ext cx="409651" cy="409651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080760" y="1508760"/>
            <a:ext cx="1097280" cy="0"/>
          </a:xfrm>
          <a:prstGeom prst="line">
            <a:avLst/>
          </a:prstGeom>
          <a:noFill/>
          <a:ln w="15875">
            <a:solidFill>
              <a:srgbClr val="C9CFD8"/>
            </a:solidFill>
            <a:prstDash val="solid"/>
            <a:tailEnd type="triangle"/>
          </a:ln>
        </p:spPr>
      </p:sp>
      <p:sp>
        <p:nvSpPr>
          <p:cNvPr id="16" name="Text 11"/>
          <p:cNvSpPr txBox="1"/>
          <p:nvPr/>
        </p:nvSpPr>
        <p:spPr>
          <a:xfrm>
            <a:off x="4663440" y="2011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3. Configurar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663440" y="23774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Tools → Global Options: no restaurar .RData y no guardarlo nunca.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315200" y="1143000"/>
            <a:ext cx="731520" cy="731520"/>
          </a:xfrm>
          <a:prstGeom prst="ellipse">
            <a:avLst/>
          </a:prstGeom>
          <a:solidFill>
            <a:srgbClr val="7652B8"/>
          </a:solidFill>
          <a:ln w="12700">
            <a:solidFill>
              <a:srgbClr val="7652B8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6134" y="1303934"/>
            <a:ext cx="409651" cy="40965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766560" y="2011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4. Crear proyecto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766560" y="23774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File → New Project → Existing Directory. Fija el directorio de trabajo.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3611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53D"/>
                </a:solidFill>
              </a:rPr>
              <a:t>El orden importa: RStudio no incluye R.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572000" y="3566160"/>
            <a:ext cx="4114800" cy="41148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709160" y="3657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getwd()  # carpeta del proyecto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No guardar .RData hace que cada sesión empiece limpia: el resultado depende solo del script.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Spyder: un IDE científico para Python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84632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AEB6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5488" y="1115568"/>
            <a:ext cx="4809744" cy="237744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79576"/>
            <a:ext cx="91440" cy="91440"/>
          </a:xfrm>
          <a:prstGeom prst="ellipse">
            <a:avLst/>
          </a:prstGeom>
          <a:solidFill>
            <a:srgbClr val="E06C5F"/>
          </a:solidFill>
          <a:ln w="12700">
            <a:solidFill>
              <a:srgbClr val="E06C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179576"/>
            <a:ext cx="91440" cy="91440"/>
          </a:xfrm>
          <a:prstGeom prst="ellipse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179576"/>
            <a:ext cx="91440" cy="91440"/>
          </a:xfrm>
          <a:prstGeom prst="ellipse">
            <a:avLst/>
          </a:prstGeom>
          <a:solidFill>
            <a:srgbClr val="6CBF6A"/>
          </a:solidFill>
          <a:ln w="12700">
            <a:solidFill>
              <a:srgbClr val="6CBF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1124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Spyder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251460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463040"/>
            <a:ext cx="2368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Editor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1709928"/>
            <a:ext cx="2368296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%%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= pd.read_csv(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"ventas.csv")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%%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datos.describe()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1417320"/>
            <a:ext cx="2103120" cy="1463040"/>
          </a:xfrm>
          <a:prstGeom prst="rect">
            <a:avLst/>
          </a:prstGeom>
          <a:solidFill>
            <a:srgbClr val="FBFBFC"/>
          </a:solidFill>
          <a:ln w="9525">
            <a:solidFill>
              <a:srgbClr val="C9CF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82112" y="1463040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Explorador de variables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182112" y="1709928"/>
            <a:ext cx="19568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 DataFrame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(120, 4)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0" y="2926080"/>
            <a:ext cx="2103120" cy="1463040"/>
          </a:xfrm>
          <a:prstGeom prst="rect">
            <a:avLst/>
          </a:prstGeom>
          <a:solidFill>
            <a:srgbClr val="FBFBFC"/>
          </a:solidFill>
          <a:ln w="9525">
            <a:solidFill>
              <a:srgbClr val="C9CF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82112" y="2971800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Consola IPython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182112" y="3218688"/>
            <a:ext cx="19568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[1]: datos.shape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Out[1]: (120, 4)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1188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 diseño se parece al de RStudio y al del entorno de MATLAB: editor, consola y variables visibles al mismo tiempo.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Dos formas de instalarlo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26060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Con Anaconda: </a:t>
            </a:r>
            <a:r>
              <a:rPr lang="en-US" sz="1300" dirty="0">
                <a:solidFill>
                  <a:schemeClr val="tx1"/>
                </a:solidFill>
              </a:rPr>
              <a:t>ya viene incluido.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Instalador propio: </a:t>
            </a:r>
            <a:r>
              <a:rPr lang="en-US" sz="1300" dirty="0">
                <a:solidFill>
                  <a:schemeClr val="tx1"/>
                </a:solidFill>
              </a:rPr>
              <a:t>spyder-ide.org. Trae Python y las bibliotecas principales (unos 640 MB).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Configurar y usar Spyder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Herramientas → Preferencias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Intérprete de Python: </a:t>
            </a:r>
            <a:r>
              <a:rPr lang="en-US" sz="1400" dirty="0">
                <a:solidFill>
                  <a:schemeClr val="tx1"/>
                </a:solidFill>
              </a:rPr>
              <a:t>cuál usa Spyder. Spyder 6 detecta los entornos de conda.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Directorio de trabajo: </a:t>
            </a:r>
            <a:r>
              <a:rPr lang="en-US" sz="1400" dirty="0">
                <a:solidFill>
                  <a:schemeClr val="tx1"/>
                </a:solidFill>
              </a:rPr>
              <a:t>que la consola arranque en el directorio del archivo que se ejecuta.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4023360" cy="64008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3200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print(sys.executable)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685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11887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F5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2984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ejecutar el archivo completo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965960"/>
            <a:ext cx="685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46320" y="19659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F9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0756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ejecutar la línea o la selección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274320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846320" y="2743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Ctrl + Enter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8529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ejecutar la celda actual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6118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Una celda es un bloque que empieza con </a:t>
            </a: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%%</a:t>
            </a:r>
            <a:r>
              <a:rPr lang="en-US" sz="1300" dirty="0">
                <a:solidFill>
                  <a:srgbClr val="6B7280"/>
                </a:solidFill>
              </a:rPr>
              <a:t>. Permite ejecutar el script por partes sin convertirlo en notebook.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Spyder en pantalla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60704"/>
            <a:ext cx="5625389" cy="3529584"/>
          </a:xfrm>
          <a:prstGeom prst="rect">
            <a:avLst/>
          </a:prstGeom>
          <a:solidFill>
            <a:srgbClr val="F1F3F6"/>
          </a:solidFill>
          <a:ln w="12700">
            <a:solidFill>
              <a:srgbClr val="AEB6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pic>
        <p:nvPicPr>
          <p:cNvPr id="4" name="Image 0" descr="img_sp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78992"/>
            <a:ext cx="5588813" cy="34930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727667" y="1165128"/>
            <a:ext cx="246888" cy="246888"/>
          </a:xfrm>
          <a:prstGeom prst="ellipse">
            <a:avLst/>
          </a:prstGeom>
          <a:solidFill>
            <a:srgbClr val="D99A0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727667" y="116512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49119" y="1165128"/>
            <a:ext cx="246888" cy="246888"/>
          </a:xfrm>
          <a:prstGeom prst="ellipse">
            <a:avLst/>
          </a:prstGeom>
          <a:solidFill>
            <a:srgbClr val="7652B8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749119" y="116512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727667" y="2003450"/>
            <a:ext cx="246888" cy="246888"/>
          </a:xfrm>
          <a:prstGeom prst="ellipse">
            <a:avLst/>
          </a:prstGeom>
          <a:solidFill>
            <a:srgbClr val="276DC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727667" y="200345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52214" y="2003450"/>
            <a:ext cx="246888" cy="246888"/>
          </a:xfrm>
          <a:prstGeom prst="ellipse">
            <a:avLst/>
          </a:prstGeom>
          <a:solidFill>
            <a:srgbClr val="2A8C7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452214" y="200345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17284" y="3470514"/>
            <a:ext cx="246888" cy="246888"/>
          </a:xfrm>
          <a:prstGeom prst="ellipse">
            <a:avLst/>
          </a:prstGeom>
          <a:solidFill>
            <a:srgbClr val="C2453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417284" y="347051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980658" y="4403147"/>
            <a:ext cx="246888" cy="246888"/>
          </a:xfrm>
          <a:prstGeom prst="ellipse">
            <a:avLst/>
          </a:prstGeom>
          <a:solidFill>
            <a:srgbClr val="7652B8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3980658" y="4403147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10789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Las partes de la ventana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0" y="1463040"/>
            <a:ext cx="274320" cy="27432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784848" y="1444752"/>
            <a:ext cx="19202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Barra de herramientas: ejecutar, depurar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0" y="1999488"/>
            <a:ext cx="274320" cy="274320"/>
          </a:xfrm>
          <a:prstGeom prst="ellipse">
            <a:avLst/>
          </a:prstGeom>
          <a:solidFill>
            <a:srgbClr val="7652B8"/>
          </a:solidFill>
          <a:ln w="12700">
            <a:solidFill>
              <a:srgbClr val="7652B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0" y="1999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784848" y="1981200"/>
            <a:ext cx="19202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Directorio de trabajo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0" y="2535936"/>
            <a:ext cx="274320" cy="27432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0" y="2535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784848" y="2517648"/>
            <a:ext cx="19202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Editor: el script analisis.py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0800" y="3072384"/>
            <a:ext cx="274320" cy="27432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0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3054096"/>
            <a:ext cx="19202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Explorador de variables; al lado, las pestañas Ayuda, Gráficos y Archivos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00800" y="3608832"/>
            <a:ext cx="274320" cy="27432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0" y="3608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784848" y="3590544"/>
            <a:ext cx="19202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Consola de IPython: la salida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400800" y="4145280"/>
            <a:ext cx="274320" cy="274320"/>
          </a:xfrm>
          <a:prstGeom prst="ellipse">
            <a:avLst/>
          </a:prstGeom>
          <a:solidFill>
            <a:srgbClr val="7652B8"/>
          </a:solidFill>
          <a:ln w="12700">
            <a:solidFill>
              <a:srgbClr val="7652B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00800" y="4145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784848" y="4126992"/>
            <a:ext cx="19202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Barra de estado: qué Python se usa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384048" y="46451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Captura de Spyder 6 con el script ya ejecutado (F5): las variables aparecen a la derecha y la salida, abajo.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Spyder: ver el gráfico y abrir los datos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60704"/>
            <a:ext cx="5625389" cy="3529584"/>
          </a:xfrm>
          <a:prstGeom prst="rect">
            <a:avLst/>
          </a:prstGeom>
          <a:solidFill>
            <a:srgbClr val="F1F3F6"/>
          </a:solidFill>
          <a:ln w="12700">
            <a:solidFill>
              <a:srgbClr val="AEB6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pic>
        <p:nvPicPr>
          <p:cNvPr id="4" name="Image 0" descr="img_sp_pl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78992"/>
            <a:ext cx="5588813" cy="34930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87941" y="2726503"/>
            <a:ext cx="246888" cy="246888"/>
          </a:xfrm>
          <a:prstGeom prst="ellipse">
            <a:avLst/>
          </a:prstGeom>
          <a:solidFill>
            <a:srgbClr val="276DC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087941" y="272650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25168" y="2038380"/>
            <a:ext cx="246888" cy="246888"/>
          </a:xfrm>
          <a:prstGeom prst="ellipse">
            <a:avLst/>
          </a:prstGeom>
          <a:solidFill>
            <a:srgbClr val="276DC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225168" y="203838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15385" y="1559838"/>
            <a:ext cx="246888" cy="246888"/>
          </a:xfrm>
          <a:prstGeom prst="ellipse">
            <a:avLst/>
          </a:prstGeom>
          <a:solidFill>
            <a:srgbClr val="2A8C7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615385" y="155983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10789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El panel de gráficos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0" y="1463040"/>
            <a:ext cx="274320" cy="27432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784848" y="144475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 pestaña Gráficos muestra las figuras que genera el script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0" y="2194560"/>
            <a:ext cx="274320" cy="27432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784848" y="217627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El gráfico de barras de analisis.py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0" y="2926080"/>
            <a:ext cx="274320" cy="27432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784848" y="290779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Miniaturas: una por figura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84048" y="46451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Con doble clic sobre una variable del explorador se abre la tabla completa, como una planilla de solo lectura.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Spyder: configurar cómo se ejecuta un archivo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60704"/>
            <a:ext cx="3057556" cy="3529584"/>
          </a:xfrm>
          <a:prstGeom prst="rect">
            <a:avLst/>
          </a:prstGeom>
          <a:solidFill>
            <a:srgbClr val="F1F3F6"/>
          </a:solidFill>
          <a:ln w="12700">
            <a:solidFill>
              <a:srgbClr val="AEB6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pic>
        <p:nvPicPr>
          <p:cNvPr id="4" name="Image 0" descr="img_sp_runcf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78992"/>
            <a:ext cx="3020980" cy="34930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78611" y="2513241"/>
            <a:ext cx="246888" cy="246888"/>
          </a:xfrm>
          <a:prstGeom prst="ellipse">
            <a:avLst/>
          </a:prstGeom>
          <a:solidFill>
            <a:srgbClr val="276DC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378611" y="251324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78611" y="3636668"/>
            <a:ext cx="246888" cy="246888"/>
          </a:xfrm>
          <a:prstGeom prst="ellipse">
            <a:avLst/>
          </a:prstGeom>
          <a:solidFill>
            <a:srgbClr val="2A8C7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78611" y="36366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907948" y="1078992"/>
            <a:ext cx="4824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Ctrl + F6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907948" y="1463040"/>
            <a:ext cx="274320" cy="27432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07948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291996" y="1444752"/>
            <a:ext cx="44130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Ejecutar en la consola actual o en una dedicada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07948" y="2194560"/>
            <a:ext cx="274320" cy="27432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07948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291996" y="2176272"/>
            <a:ext cx="44130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Directorio de trabajo: elegir el del archivo que se ejecuta, para que las rutas relativas funcionen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" y="46451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Ejecutar → Configuración por archivo (Ctrl+F6). La segunda opción resuelve los errores de rutas relativas.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Visual Studio Code: un editor que se vuelve 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84632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AEB6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5488" y="1115568"/>
            <a:ext cx="4809744" cy="237744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79576"/>
            <a:ext cx="91440" cy="91440"/>
          </a:xfrm>
          <a:prstGeom prst="ellipse">
            <a:avLst/>
          </a:prstGeom>
          <a:solidFill>
            <a:srgbClr val="E06C5F"/>
          </a:solidFill>
          <a:ln w="12700">
            <a:solidFill>
              <a:srgbClr val="E06C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179576"/>
            <a:ext cx="91440" cy="91440"/>
          </a:xfrm>
          <a:prstGeom prst="ellipse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179576"/>
            <a:ext cx="91440" cy="91440"/>
          </a:xfrm>
          <a:prstGeom prst="ellipse">
            <a:avLst/>
          </a:prstGeom>
          <a:solidFill>
            <a:srgbClr val="6CBF6A"/>
          </a:solidFill>
          <a:ln w="12700">
            <a:solidFill>
              <a:srgbClr val="6CBF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1124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Visual Studio Code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1371600"/>
            <a:ext cx="320040" cy="3090672"/>
          </a:xfrm>
          <a:prstGeom prst="rect">
            <a:avLst/>
          </a:prstGeom>
          <a:solidFill>
            <a:srgbClr val="2D3440"/>
          </a:solidFill>
          <a:ln w="12700">
            <a:solidFill>
              <a:srgbClr val="2D344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63040"/>
            <a:ext cx="219456" cy="219456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847088"/>
            <a:ext cx="219456" cy="219456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31136"/>
            <a:ext cx="219456" cy="21945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22960" y="1371600"/>
            <a:ext cx="1234440" cy="3090672"/>
          </a:xfrm>
          <a:prstGeom prst="rect">
            <a:avLst/>
          </a:prstGeom>
          <a:solidFill>
            <a:srgbClr val="F7F8FA"/>
          </a:solidFill>
          <a:ln w="9525">
            <a:solidFill>
              <a:srgbClr val="C9CFD8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96112" y="141732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Explorador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896112" y="1664208"/>
            <a:ext cx="10881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analisis.py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2084832" y="1371600"/>
            <a:ext cx="32004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8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2157984" y="1417320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analisis.py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2157984" y="1664208"/>
            <a:ext cx="305409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%%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= pd.read_csv(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"datos/ventas.csv")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084832" y="3273552"/>
            <a:ext cx="3200400" cy="1188720"/>
          </a:xfrm>
          <a:prstGeom prst="rect">
            <a:avLst/>
          </a:prstGeom>
          <a:solidFill>
            <a:srgbClr val="FBFBFC"/>
          </a:solidFill>
          <a:ln w="9525">
            <a:solidFill>
              <a:srgbClr val="C9CFD8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157984" y="331927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Terminal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2157984" y="3566160"/>
            <a:ext cx="3054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C:\...\proyecto&gt;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5669280" y="1188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Editor gratuito de Microsoft. Se convierte en IDE con extensiones. Trae Git integrado.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5669280" y="2148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No confundir con Visual Studio (sin «Code»), que es otro programa.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66928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Instalación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5669280" y="3108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code.visualstudio.com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 Windows, marcar «Agregar a PATH».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trae Python ni R: hay que instalarlos aparte.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Configurar VS Code para Python y R</a:t>
            </a:r>
            <a:endParaRPr lang="en-US" sz="2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206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0312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Jupyter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REditorSupport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514600"/>
            <a:ext cx="4206240" cy="384048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26060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install.packages("languageserver")  # para R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37760" y="1097280"/>
            <a:ext cx="3749040" cy="1600200"/>
          </a:xfrm>
          <a:prstGeom prst="rect">
            <a:avLst/>
          </a:prstGeom>
          <a:solidFill>
            <a:srgbClr val="252B35"/>
          </a:solidFill>
          <a:ln w="12700">
            <a:solidFill>
              <a:srgbClr val="252B3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0" y="1188720"/>
            <a:ext cx="3566160" cy="320040"/>
          </a:xfrm>
          <a:prstGeom prst="rect">
            <a:avLst/>
          </a:prstGeom>
          <a:solidFill>
            <a:srgbClr val="3A4250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2064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Python: Select Interpreter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0" y="1600200"/>
            <a:ext cx="3566160" cy="310896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20640" y="16002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 ('base')  ~\anaconda3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120640" y="192938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  ~\AppData\...\python.exe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120640" y="225856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3.11  Spyder\python.exe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937760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Ctrl + Shift + P abre la paleta de comandos.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246120"/>
            <a:ext cx="384048" cy="384048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3246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Abrir la carpeta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3566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Archivo → Abrir carpeta. Es el equivalente al proyecto de RStudio.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246120" y="3246120"/>
            <a:ext cx="384048" cy="384048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461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749040" y="3246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Elegir el intérprete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749040" y="3566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Queda indicado en la barra inferior.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035040" y="3246120"/>
            <a:ext cx="384048" cy="384048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350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537960" y="3246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Ejecutar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537960" y="3566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Botón Run arriba a la derecha, o Shift + Enter para la selección o la celda.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VS Code en pantalla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60704"/>
            <a:ext cx="5625389" cy="3529584"/>
          </a:xfrm>
          <a:prstGeom prst="rect">
            <a:avLst/>
          </a:prstGeom>
          <a:solidFill>
            <a:srgbClr val="F1F3F6"/>
          </a:solidFill>
          <a:ln w="12700">
            <a:solidFill>
              <a:srgbClr val="AEB6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pic>
        <p:nvPicPr>
          <p:cNvPr id="4" name="Image 0" descr="img_vs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78992"/>
            <a:ext cx="5588813" cy="34930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4436" y="1584289"/>
            <a:ext cx="246888" cy="246888"/>
          </a:xfrm>
          <a:prstGeom prst="ellipse">
            <a:avLst/>
          </a:prstGeom>
          <a:solidFill>
            <a:srgbClr val="D99A0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344436" y="158428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948727" y="1346765"/>
            <a:ext cx="246888" cy="246888"/>
          </a:xfrm>
          <a:prstGeom prst="ellipse">
            <a:avLst/>
          </a:prstGeom>
          <a:solidFill>
            <a:srgbClr val="276DC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48727" y="134676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055010" y="1828800"/>
            <a:ext cx="246888" cy="246888"/>
          </a:xfrm>
          <a:prstGeom prst="ellipse">
            <a:avLst/>
          </a:prstGeom>
          <a:solidFill>
            <a:srgbClr val="2A8C7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055010" y="18288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01514" y="4406640"/>
            <a:ext cx="246888" cy="246888"/>
          </a:xfrm>
          <a:prstGeom prst="ellipse">
            <a:avLst/>
          </a:prstGeom>
          <a:solidFill>
            <a:srgbClr val="7652B8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801514" y="44066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055010" y="1014929"/>
            <a:ext cx="246888" cy="246888"/>
          </a:xfrm>
          <a:prstGeom prst="ellipse">
            <a:avLst/>
          </a:prstGeom>
          <a:solidFill>
            <a:srgbClr val="C2453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055010" y="101492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10789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Las partes de la ventana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0" y="1463040"/>
            <a:ext cx="274320" cy="27432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784848" y="1444752"/>
            <a:ext cx="19202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Barra de actividades: explorador, búsqueda, Git, ejecutar y depurar, extensiones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0" y="2106778"/>
            <a:ext cx="274320" cy="27432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0" y="21067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784848" y="2088490"/>
            <a:ext cx="19202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Explorador: la carpeta abierta (el «proyecto»)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0" y="2750515"/>
            <a:ext cx="274320" cy="27432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0" y="275051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784848" y="2732227"/>
            <a:ext cx="19202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Editor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0" y="3394253"/>
            <a:ext cx="274320" cy="274320"/>
          </a:xfrm>
          <a:prstGeom prst="ellipse">
            <a:avLst/>
          </a:prstGeom>
          <a:solidFill>
            <a:srgbClr val="7652B8"/>
          </a:solidFill>
          <a:ln w="12700">
            <a:solidFill>
              <a:srgbClr val="7652B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0" y="33942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784848" y="3375965"/>
            <a:ext cx="19202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Barra de estado: lenguaje e intérprete elegido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00800" y="4037990"/>
            <a:ext cx="274320" cy="27432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0" y="403799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784848" y="4019702"/>
            <a:ext cx="19202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Barra superior: buscar archivos y comandos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384048" y="46451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La interfaz viene en inglés; la extensión «Spanish Language Pack» (Microsoft) la traduce al español.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VS Code: ejecutar un script en la terminal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60704"/>
            <a:ext cx="5625389" cy="3529584"/>
          </a:xfrm>
          <a:prstGeom prst="rect">
            <a:avLst/>
          </a:prstGeom>
          <a:solidFill>
            <a:srgbClr val="F1F3F6"/>
          </a:solidFill>
          <a:ln w="12700">
            <a:solidFill>
              <a:srgbClr val="AEB6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pic>
        <p:nvPicPr>
          <p:cNvPr id="4" name="Image 0" descr="img_vs_te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78992"/>
            <a:ext cx="5588813" cy="34930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48727" y="1392174"/>
            <a:ext cx="246888" cy="246888"/>
          </a:xfrm>
          <a:prstGeom prst="ellipse">
            <a:avLst/>
          </a:prstGeom>
          <a:solidFill>
            <a:srgbClr val="276DC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48727" y="139217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90440" y="3267919"/>
            <a:ext cx="246888" cy="246888"/>
          </a:xfrm>
          <a:prstGeom prst="ellipse">
            <a:avLst/>
          </a:prstGeom>
          <a:solidFill>
            <a:srgbClr val="D99A0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2590440" y="3267919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31458" y="3393668"/>
            <a:ext cx="246888" cy="246888"/>
          </a:xfrm>
          <a:prstGeom prst="ellipse">
            <a:avLst/>
          </a:prstGeom>
          <a:solidFill>
            <a:srgbClr val="C2453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831458" y="33936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007108" y="3749954"/>
            <a:ext cx="246888" cy="246888"/>
          </a:xfrm>
          <a:prstGeom prst="ellipse">
            <a:avLst/>
          </a:prstGeom>
          <a:solidFill>
            <a:srgbClr val="2A8C7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007108" y="374995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10789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Paso a paso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0" y="1463040"/>
            <a:ext cx="274320" cy="27432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784848" y="144475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Abrir analisis.py desde el explorador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0" y="2194560"/>
            <a:ext cx="274320" cy="27432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784848" y="217627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Abrir la terminal integrada: Ctrl + ` (o menú Terminal)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0" y="2926080"/>
            <a:ext cx="274320" cy="27432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784848" y="290779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Escribir python analisis.py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0800" y="3657600"/>
            <a:ext cx="274320" cy="27432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784848" y="363931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 salida aparece en la misma terminal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384048" y="46451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Con la extensión Python instalada también se puede usar el botón Run, que hace esto mismo.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VS Code: la paleta de comandos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60704"/>
            <a:ext cx="5625389" cy="3529584"/>
          </a:xfrm>
          <a:prstGeom prst="rect">
            <a:avLst/>
          </a:prstGeom>
          <a:solidFill>
            <a:srgbClr val="F1F3F6"/>
          </a:solidFill>
          <a:ln w="12700">
            <a:solidFill>
              <a:srgbClr val="AEB6C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pic>
        <p:nvPicPr>
          <p:cNvPr id="4" name="Image 0" descr="img_vs_p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78992"/>
            <a:ext cx="5588813" cy="34930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55010" y="1042873"/>
            <a:ext cx="246888" cy="246888"/>
          </a:xfrm>
          <a:prstGeom prst="ellipse">
            <a:avLst/>
          </a:prstGeom>
          <a:solidFill>
            <a:srgbClr val="C2453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3055010" y="104287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670780" y="2457541"/>
            <a:ext cx="246888" cy="246888"/>
          </a:xfrm>
          <a:prstGeom prst="ellipse">
            <a:avLst/>
          </a:prstGeom>
          <a:solidFill>
            <a:srgbClr val="276DC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4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2670780" y="2457541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0789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Todo se hace desde acá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0" y="1463040"/>
            <a:ext cx="274320" cy="27432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784848" y="144475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Ctrl + Shift + P abre la paleta; se escribe lo que se busca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0" y="2194560"/>
            <a:ext cx="274320" cy="27432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784848" y="217627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Todos los comandos disponibles, con sus atajos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" y="46451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Desde aquí se elige el intérprete (Python: Select Interpreter), se abre la terminal o se cambia la configuración, sin memorizar menús.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Notebooks de Jupyter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notebook (.ipynb, formato Jupyter) alterna celdas de código y de texto, y guarda el resultado debajo de cada celda. El código lo ejecuta un kernel: un intérprete que corre en segundo plano.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84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6D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[2]: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0" y="1920240"/>
            <a:ext cx="3566160" cy="384048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20116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= pd.read_csv("ventas.csv")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6D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[5]: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88720" y="2633472"/>
            <a:ext cx="3566160" cy="384048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27249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= datos[datos["monto"] &gt; 0]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107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[3]: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88720" y="3346704"/>
            <a:ext cx="3566160" cy="384048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34381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datos["monto"].mean()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776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Out[3]: 1520.4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1874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2453D"/>
                </a:solidFill>
              </a:rPr>
              <a:t>El orden de ejecución no es el orden del documento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468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celda 3 se ejecutó antes que la 2: el promedio se calculó sin filtrar. Si se ejecuta de arriba abajo, el número cambia.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Dónde se usan: Jupyter y JupyterLab (incluidos en Anaconda), VS Code con la extensión Jupyter, Google Colab en el navegador.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Notebook o script con celdas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65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(.ipynb)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Junta explicación, código y resultados.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Útil para explorar y para mostrar un análisis paso a paso.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Las celdas se pueden ejecutar en cualquier orden.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 el kernel no tiene los paquetes, falla aunque el código esté bien.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Guarda imágenes dentro del archivo: es difícil comparar versiones en Git.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A8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 con celdas (.py)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754880" y="1554480"/>
            <a:ext cx="3931920" cy="1325880"/>
          </a:xfrm>
          <a:prstGeom prst="rect">
            <a:avLst/>
          </a:prstGeom>
          <a:solidFill>
            <a:srgbClr val="F1F3F6"/>
          </a:solidFill>
          <a:ln w="9525">
            <a:solidFill>
              <a:srgbClr val="DA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6459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%% Carga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= pd.read_csv("ventas.csv")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%% Resumen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datos["monto"].mean()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30175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 ejecuta por partes, como un notebook.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Sigue siendo texto plano: F5 lo corre de arriba abajo.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 compara sin problemas en Git.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Otros entornos: ¿hacen falta?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276DC3"/>
          </a:solidFill>
          <a:ln w="12700">
            <a:solidFill>
              <a:srgbClr val="276DC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842" y="120792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097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Positron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2788920" y="1051560"/>
            <a:ext cx="589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 Posit, sobre la misma base que VS Code. Trata a R y Python por igual. Versión estable desde 2025; RStudio se sigue manteniendo.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502920" cy="502920"/>
          </a:xfrm>
          <a:prstGeom prst="ellipse">
            <a:avLst/>
          </a:prstGeom>
          <a:solidFill>
            <a:srgbClr val="2A8C7E"/>
          </a:solidFill>
          <a:ln w="12700">
            <a:solidFill>
              <a:srgbClr val="2A8C7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42" y="1985162"/>
            <a:ext cx="281635" cy="28163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1874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PyCharm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2788920" y="1828800"/>
            <a:ext cx="589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 JetBrains. Muy completo, orientado a desarrollo de software. Tiene versión gratuita.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651760"/>
            <a:ext cx="502920" cy="502920"/>
          </a:xfrm>
          <a:prstGeom prst="ellipse">
            <a:avLst/>
          </a:prstGeom>
          <a:solidFill>
            <a:srgbClr val="7652B8"/>
          </a:solidFill>
          <a:ln w="12700">
            <a:solidFill>
              <a:srgbClr val="7652B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" y="2762402"/>
            <a:ext cx="281635" cy="28163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651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JupyterLab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2788920" y="2606040"/>
            <a:ext cx="589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Entorno de notebooks en el navegador. Viene con Anaconda.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3429000"/>
            <a:ext cx="502920" cy="502920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842" y="3539642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3429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Google Colab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2788920" y="3383280"/>
            <a:ext cx="589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Notebooks en la nube con una cuenta de Google. No requiere instalar nada.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Para este curso no hace falta ninguno: RStudio cubre R; Spyder o VS Code cubren Python. Positron sirve a quien quiera un solo programa para ambos; Colab, a quien no pueda instalar.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Qué conviene no instalar (o no usar)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197864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9848" y="107899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Dos instalaciones de Python a la vez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1060704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python.org + Anaconda + Microsoft Store: los paquetes quedan en un intérprete y el IDE usa otro («No module named…»). Elegir una sola.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1810512"/>
            <a:ext cx="457200" cy="45720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91109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69848" y="179222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La ventana interactiva (Jupyter) de VS Code para todo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4206240" y="1773936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Cada archivo abre un kernel en segundo plano y la memoria se consume enseguida. Para el curso alcanza con la terminal; si se usan celdas, un solo kernel.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2523744"/>
            <a:ext cx="457200" cy="45720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262432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69848" y="2505456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Extensiones «por las dudas»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4206240" y="2487168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Cada extensión carga al arrancar VS Code. Con Python y Jupyter alcanza; las demás, solo cuando hagan falta.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200" y="3236976"/>
            <a:ext cx="457200" cy="45720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333756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69848" y="32186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pip adentro del entorno base de Anaconda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4206240" y="320040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Mezclar pip y conda en base suele romper la instalación. Primero probar conda install; pip, en un entorno aparte.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57200" y="3950208"/>
            <a:ext cx="457200" cy="457200"/>
          </a:xfrm>
          <a:prstGeom prst="ellipse">
            <a:avLst/>
          </a:prstGeom>
          <a:solidFill>
            <a:srgbClr val="C2453D"/>
          </a:solidFill>
          <a:ln w="12700">
            <a:solidFill>
              <a:srgbClr val="C2453D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4050792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69848" y="3931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Actualizar todo a mitad de semestre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4206240" y="3913632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conda update --all o actualizar el IDE puede cambiar versiones que los scripts de clase usan. Actualizar al terminar el curso.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Comparación de las herramientas del curso</a:t>
            </a:r>
            <a:endParaRPr lang="en-US" sz="28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00200"/>
                <a:gridCol w="1600200"/>
                <a:gridCol w="1600200"/>
                <a:gridCol w="160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RStudio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Spyder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Anaconda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¿Es un IDE?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Sí, con extensiones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distribución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Cualquiera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¿Trae intérprete?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instalar R antes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Sí, en su instalador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Explorador de variables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Carpeta de trabajo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 .Rproj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Preferencias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Abrir carpeta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integrado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Problemas frecuentes y cómo resolverlos</a:t>
            </a:r>
            <a:endParaRPr lang="en-US" sz="2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56032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Síntoma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probable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FileNotFoundError / cannot open 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directorio de trabajo no es la carpeta del proyecto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Proyecto, abrir carpeta o preferencia de directorio. Verificar con getwd() u os.getcwd()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module named 'pandas'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paquete está en otro intérprete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Revisar sys.executable y elegir el intérprete correcto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RStudio pide ubicar 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no está instalado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Instalar R desde CRAN y reiniciar RStudio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«python» no se reconoce como comando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no está en el PATH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 Anaconda Prompt o elegir el intérprete en el 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Errores al instalar Anaconda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 con espacios o tildes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Reinstalar en C:\anaconda3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Fuentes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Breiman, L. (2001). Statistical modeling: The two cultures. Statistical Science, 16(3), 199–231.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Donoho, D. (2017). 50 years of data science. Journal of Computational and Graphical Statistics, 26(4), 745–766.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McKinney, W. (2022). Python for Data Analysis (3.ª ed.). O'Reilly.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Meng, X.-L. (2018). Statistical paradises and paradoxes in big data (I). The Annals of Applied Statistics, 12(2), 685–726.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Shmueli, G. (2010). To explain or to predict? Statistical Science, 25(3), 289–310.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Tukey, J. W. (1962). The future of data analysis. The Annals of Mathematical Statistics, 33(1), 1–67.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Wickham, H., Çetinkaya-Rundel, M. y Grolemund, G. (2023). R for Data Science (2.ª ed.). O'Reilly.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Yu, B. y Barter, R. L. (2024). Veridical Data Science. MIT Press.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Documentación oficial: anaconda.com/docs, posit.co, spyder-ide.org, code.visualstudio.com.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se IDE">
  <a:themeElements>
    <a:clrScheme name="Clase IDE">
      <a:dk1>
        <a:srgbClr val="1F2937"/>
      </a:dk1>
      <a:lt1>
        <a:srgbClr val="FFFFFF"/>
      </a:lt1>
      <a:dk2>
        <a:srgbClr val="16213E"/>
      </a:dk2>
      <a:lt2>
        <a:srgbClr val="F1F3F6"/>
      </a:lt2>
      <a:accent1>
        <a:srgbClr val="276DC3"/>
      </a:accent1>
      <a:accent2>
        <a:srgbClr val="D99A00"/>
      </a:accent2>
      <a:accent3>
        <a:srgbClr val="2A8C7E"/>
      </a:accent3>
      <a:accent4>
        <a:srgbClr val="C2453D"/>
      </a:accent4>
      <a:accent5>
        <a:srgbClr val="6B7280"/>
      </a:accent5>
      <a:accent6>
        <a:srgbClr val="7652B8"/>
      </a:accent6>
      <a:hlink>
        <a:srgbClr val="276DC3"/>
      </a:hlink>
      <a:folHlink>
        <a:srgbClr val="7652B8"/>
      </a:folHlink>
    </a:clrScheme>
    <a:fontScheme name="Clase ID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Lenguajes, intérpretes y entornos de trabajo</dc:title>
  <dc:subject>PptxGenJS Presentation</dc:subject>
  <dc:creator>Introducción a la Ciencia de Datos — UM</dc:creator>
  <cp:lastModifiedBy>Introducción a la Ciencia de Datos — UM</cp:lastModifiedBy>
  <cp:revision>1</cp:revision>
  <dcterms:created xsi:type="dcterms:W3CDTF">2026-10-15T11:06:13Z</dcterms:created>
  <dcterms:modified xsi:type="dcterms:W3CDTF">2026-10-15T11:06:13Z</dcterms:modified>
</cp:coreProperties>
</file>